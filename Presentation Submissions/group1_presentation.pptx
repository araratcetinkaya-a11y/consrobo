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63" r:id="rId2"/>
    <p:sldId id="265" r:id="rId3"/>
    <p:sldId id="283" r:id="rId4"/>
    <p:sldId id="266" r:id="rId5"/>
    <p:sldId id="267" r:id="rId6"/>
    <p:sldId id="268" r:id="rId7"/>
    <p:sldId id="289" r:id="rId8"/>
    <p:sldId id="296" r:id="rId9"/>
    <p:sldId id="269" r:id="rId10"/>
    <p:sldId id="264" r:id="rId11"/>
    <p:sldId id="270" r:id="rId12"/>
    <p:sldId id="271" r:id="rId13"/>
    <p:sldId id="272" r:id="rId14"/>
    <p:sldId id="273" r:id="rId15"/>
    <p:sldId id="292" r:id="rId16"/>
    <p:sldId id="274" r:id="rId17"/>
    <p:sldId id="293" r:id="rId18"/>
    <p:sldId id="256" r:id="rId19"/>
    <p:sldId id="257" r:id="rId20"/>
    <p:sldId id="258" r:id="rId21"/>
    <p:sldId id="259" r:id="rId22"/>
    <p:sldId id="260" r:id="rId23"/>
    <p:sldId id="261" r:id="rId24"/>
    <p:sldId id="294" r:id="rId25"/>
    <p:sldId id="276" r:id="rId26"/>
    <p:sldId id="295" r:id="rId27"/>
    <p:sldId id="262" r:id="rId28"/>
  </p:sldIdLst>
  <p:sldSz cx="9144000" cy="5715000" type="screen16x10"/>
  <p:notesSz cx="9926638" cy="67976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ifOmff1v8/+FqGrMWqvgnhcZC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41C950-D14A-B3CA-022F-2B8DEA80421E}" v="2686" dt="2023-02-05T15:33:10.792"/>
    <p1510:client id="{45ECD7FC-D325-40CA-AAAD-CF73D7A15A42}" v="4" dt="2023-02-05T16:47:03.664"/>
    <p1510:client id="{D6AD9513-D652-4F3D-8F48-90814AF13693}" v="1" dt="2023-02-05T20:17:08.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5" d="100"/>
          <a:sy n="125" d="100"/>
        </p:scale>
        <p:origin x="1194" y="120"/>
      </p:cViewPr>
      <p:guideLst>
        <p:guide orient="horz" pos="180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customschemas.google.com/relationships/presentationmetadata" Target="metadata"/><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7" y="4"/>
            <a:ext cx="4301543" cy="339884"/>
          </a:xfrm>
          <a:prstGeom prst="rect">
            <a:avLst/>
          </a:prstGeom>
          <a:noFill/>
          <a:ln>
            <a:noFill/>
          </a:ln>
        </p:spPr>
        <p:txBody>
          <a:bodyPr spcFirstLastPara="1" wrap="square" lIns="91450" tIns="45700" rIns="91450" bIns="45700" anchor="t"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622813" y="4"/>
            <a:ext cx="4301543" cy="339884"/>
          </a:xfrm>
          <a:prstGeom prst="rect">
            <a:avLst/>
          </a:prstGeom>
          <a:noFill/>
          <a:ln>
            <a:noFill/>
          </a:ln>
        </p:spPr>
        <p:txBody>
          <a:bodyPr spcFirstLastPara="1" wrap="square" lIns="91450" tIns="45700" rIns="91450" bIns="45700" anchor="t" anchorCtr="0">
            <a:noAutofit/>
          </a:bodyPr>
          <a:lstStyle>
            <a:lvl1pPr marR="0" lvl="0" algn="r"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922588" y="506413"/>
            <a:ext cx="4081462" cy="25511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2666" y="3228900"/>
            <a:ext cx="7941310" cy="3058954"/>
          </a:xfrm>
          <a:prstGeom prst="rect">
            <a:avLst/>
          </a:prstGeom>
          <a:noFill/>
          <a:ln>
            <a:noFill/>
          </a:ln>
        </p:spPr>
        <p:txBody>
          <a:bodyPr spcFirstLastPara="1" wrap="square" lIns="91450" tIns="45700" rIns="91450"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7" y="6456616"/>
            <a:ext cx="4301543" cy="339884"/>
          </a:xfrm>
          <a:prstGeom prst="rect">
            <a:avLst/>
          </a:prstGeom>
          <a:noFill/>
          <a:ln>
            <a:noFill/>
          </a:ln>
        </p:spPr>
        <p:txBody>
          <a:bodyPr spcFirstLastPara="1" wrap="square" lIns="91450" tIns="45700" rIns="91450" bIns="45700" anchor="b"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622813" y="6456616"/>
            <a:ext cx="4301543" cy="339884"/>
          </a:xfrm>
          <a:prstGeom prst="rect">
            <a:avLst/>
          </a:prstGeom>
          <a:noFill/>
          <a:ln>
            <a:noFill/>
          </a:ln>
        </p:spPr>
        <p:txBody>
          <a:bodyPr spcFirstLastPara="1" wrap="square" lIns="91450" tIns="45700" rIns="91450" bIns="45700" anchor="b" anchorCtr="0">
            <a:noAutofit/>
          </a:bodyPr>
          <a:lstStyle/>
          <a:p>
            <a:pPr marL="0" marR="0" lvl="0" indent="0" algn="r" rtl="0">
              <a:spcBef>
                <a:spcPts val="0"/>
              </a:spcBef>
              <a:spcAft>
                <a:spcPts val="0"/>
              </a:spcAft>
              <a:buNone/>
            </a:pPr>
            <a:fld id="{00000000-1234-1234-1234-123412341234}" type="slidenum">
              <a:rPr lang="de-DE" sz="1100" b="0" i="0" u="none" strike="noStrike" cap="none">
                <a:solidFill>
                  <a:schemeClr val="dk1"/>
                </a:solidFill>
                <a:latin typeface="Calibri"/>
                <a:ea typeface="Calibri"/>
                <a:cs typeface="Calibri"/>
                <a:sym typeface="Calibri"/>
              </a:rPr>
              <a:t>‹#›</a:t>
            </a:fld>
            <a:endParaRPr sz="11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notes"/>
          <p:cNvSpPr txBox="1">
            <a:spLocks noGrp="1"/>
          </p:cNvSpPr>
          <p:nvPr>
            <p:ph type="body" idx="1"/>
          </p:nvPr>
        </p:nvSpPr>
        <p:spPr>
          <a:xfrm>
            <a:off x="992666" y="3228900"/>
            <a:ext cx="7941310" cy="3058954"/>
          </a:xfrm>
          <a:prstGeom prst="rect">
            <a:avLst/>
          </a:prstGeom>
        </p:spPr>
        <p:txBody>
          <a:bodyPr spcFirstLastPara="1" wrap="square" lIns="91450" tIns="45700" rIns="91450" bIns="45700" anchor="t" anchorCtr="0">
            <a:noAutofit/>
          </a:bodyPr>
          <a:lstStyle/>
          <a:p>
            <a:pPr marL="0" lvl="0" indent="0" algn="l" rtl="0">
              <a:spcBef>
                <a:spcPts val="0"/>
              </a:spcBef>
              <a:spcAft>
                <a:spcPts val="0"/>
              </a:spcAft>
              <a:buNone/>
            </a:pPr>
            <a:endParaRPr/>
          </a:p>
        </p:txBody>
      </p:sp>
      <p:sp>
        <p:nvSpPr>
          <p:cNvPr id="26" name="Google Shape;26;p2:notes"/>
          <p:cNvSpPr>
            <a:spLocks noGrp="1" noRot="1" noChangeAspect="1"/>
          </p:cNvSpPr>
          <p:nvPr>
            <p:ph type="sldImg" idx="2"/>
          </p:nvPr>
        </p:nvSpPr>
        <p:spPr>
          <a:xfrm>
            <a:off x="2922588" y="506413"/>
            <a:ext cx="4081462"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20528881256_0_12:notes"/>
          <p:cNvSpPr>
            <a:spLocks noGrp="1" noRot="1" noChangeAspect="1"/>
          </p:cNvSpPr>
          <p:nvPr>
            <p:ph type="sldImg" idx="2"/>
          </p:nvPr>
        </p:nvSpPr>
        <p:spPr>
          <a:xfrm>
            <a:off x="2922588" y="506413"/>
            <a:ext cx="4081462" cy="25511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 name="Google Shape;33;g20528881256_0_12:notes"/>
          <p:cNvSpPr txBox="1">
            <a:spLocks noGrp="1"/>
          </p:cNvSpPr>
          <p:nvPr>
            <p:ph type="body" idx="1"/>
          </p:nvPr>
        </p:nvSpPr>
        <p:spPr>
          <a:xfrm>
            <a:off x="992666" y="3228900"/>
            <a:ext cx="7941300" cy="3059100"/>
          </a:xfrm>
          <a:prstGeom prst="rect">
            <a:avLst/>
          </a:prstGeom>
        </p:spPr>
        <p:txBody>
          <a:bodyPr spcFirstLastPara="1" wrap="square" lIns="91450" tIns="45700" rIns="91450" bIns="45700" anchor="t" anchorCtr="0">
            <a:noAutofit/>
          </a:bodyPr>
          <a:lstStyle/>
          <a:p>
            <a:pPr marL="0" lvl="0" indent="0" algn="l" rtl="0">
              <a:spcBef>
                <a:spcPts val="0"/>
              </a:spcBef>
              <a:spcAft>
                <a:spcPts val="0"/>
              </a:spcAft>
              <a:buNone/>
            </a:pPr>
            <a:endParaRPr/>
          </a:p>
        </p:txBody>
      </p:sp>
      <p:sp>
        <p:nvSpPr>
          <p:cNvPr id="34" name="Google Shape;34;g20528881256_0_12:notes"/>
          <p:cNvSpPr txBox="1">
            <a:spLocks noGrp="1"/>
          </p:cNvSpPr>
          <p:nvPr>
            <p:ph type="sldNum" idx="12"/>
          </p:nvPr>
        </p:nvSpPr>
        <p:spPr>
          <a:xfrm>
            <a:off x="5622813" y="6456616"/>
            <a:ext cx="4301400" cy="339900"/>
          </a:xfrm>
          <a:prstGeom prst="rect">
            <a:avLst/>
          </a:prstGeom>
        </p:spPr>
        <p:txBody>
          <a:bodyPr spcFirstLastPara="1" wrap="square" lIns="91450" tIns="45700" rIns="91450"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19</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g20528881256_0_19:notes"/>
          <p:cNvSpPr>
            <a:spLocks noGrp="1" noRot="1" noChangeAspect="1"/>
          </p:cNvSpPr>
          <p:nvPr>
            <p:ph type="sldImg" idx="2"/>
          </p:nvPr>
        </p:nvSpPr>
        <p:spPr>
          <a:xfrm>
            <a:off x="2922588" y="506413"/>
            <a:ext cx="4081462" cy="25511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 name="Google Shape;40;g20528881256_0_19:notes"/>
          <p:cNvSpPr txBox="1">
            <a:spLocks noGrp="1"/>
          </p:cNvSpPr>
          <p:nvPr>
            <p:ph type="body" idx="1"/>
          </p:nvPr>
        </p:nvSpPr>
        <p:spPr>
          <a:xfrm>
            <a:off x="992666" y="3228900"/>
            <a:ext cx="7941300" cy="3059100"/>
          </a:xfrm>
          <a:prstGeom prst="rect">
            <a:avLst/>
          </a:prstGeom>
        </p:spPr>
        <p:txBody>
          <a:bodyPr spcFirstLastPara="1" wrap="square" lIns="91450" tIns="45700" rIns="91450" bIns="45700" anchor="t" anchorCtr="0">
            <a:noAutofit/>
          </a:bodyPr>
          <a:lstStyle/>
          <a:p>
            <a:pPr marL="0" lvl="0" indent="0" algn="l" rtl="0">
              <a:spcBef>
                <a:spcPts val="0"/>
              </a:spcBef>
              <a:spcAft>
                <a:spcPts val="0"/>
              </a:spcAft>
              <a:buNone/>
            </a:pPr>
            <a:endParaRPr/>
          </a:p>
        </p:txBody>
      </p:sp>
      <p:sp>
        <p:nvSpPr>
          <p:cNvPr id="41" name="Google Shape;41;g20528881256_0_19:notes"/>
          <p:cNvSpPr txBox="1">
            <a:spLocks noGrp="1"/>
          </p:cNvSpPr>
          <p:nvPr>
            <p:ph type="sldNum" idx="12"/>
          </p:nvPr>
        </p:nvSpPr>
        <p:spPr>
          <a:xfrm>
            <a:off x="5622813" y="6456616"/>
            <a:ext cx="4301400" cy="339900"/>
          </a:xfrm>
          <a:prstGeom prst="rect">
            <a:avLst/>
          </a:prstGeom>
        </p:spPr>
        <p:txBody>
          <a:bodyPr spcFirstLastPara="1" wrap="square" lIns="91450" tIns="45700" rIns="91450"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20</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20528881256_0_42:notes"/>
          <p:cNvSpPr>
            <a:spLocks noGrp="1" noRot="1" noChangeAspect="1"/>
          </p:cNvSpPr>
          <p:nvPr>
            <p:ph type="sldImg" idx="2"/>
          </p:nvPr>
        </p:nvSpPr>
        <p:spPr>
          <a:xfrm>
            <a:off x="2922588" y="506413"/>
            <a:ext cx="4081462" cy="25511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 name="Google Shape;47;g20528881256_0_42:notes"/>
          <p:cNvSpPr txBox="1">
            <a:spLocks noGrp="1"/>
          </p:cNvSpPr>
          <p:nvPr>
            <p:ph type="body" idx="1"/>
          </p:nvPr>
        </p:nvSpPr>
        <p:spPr>
          <a:xfrm>
            <a:off x="992666" y="3228900"/>
            <a:ext cx="7941300" cy="3059100"/>
          </a:xfrm>
          <a:prstGeom prst="rect">
            <a:avLst/>
          </a:prstGeom>
        </p:spPr>
        <p:txBody>
          <a:bodyPr spcFirstLastPara="1" wrap="square" lIns="91450" tIns="45700" rIns="91450" bIns="45700" anchor="t" anchorCtr="0">
            <a:noAutofit/>
          </a:bodyPr>
          <a:lstStyle/>
          <a:p>
            <a:pPr marL="0" lvl="0" indent="0" algn="l" rtl="0">
              <a:spcBef>
                <a:spcPts val="0"/>
              </a:spcBef>
              <a:spcAft>
                <a:spcPts val="0"/>
              </a:spcAft>
              <a:buNone/>
            </a:pPr>
            <a:endParaRPr/>
          </a:p>
        </p:txBody>
      </p:sp>
      <p:sp>
        <p:nvSpPr>
          <p:cNvPr id="48" name="Google Shape;48;g20528881256_0_42:notes"/>
          <p:cNvSpPr txBox="1">
            <a:spLocks noGrp="1"/>
          </p:cNvSpPr>
          <p:nvPr>
            <p:ph type="sldNum" idx="12"/>
          </p:nvPr>
        </p:nvSpPr>
        <p:spPr>
          <a:xfrm>
            <a:off x="5622813" y="6456616"/>
            <a:ext cx="4301400" cy="339900"/>
          </a:xfrm>
          <a:prstGeom prst="rect">
            <a:avLst/>
          </a:prstGeom>
        </p:spPr>
        <p:txBody>
          <a:bodyPr spcFirstLastPara="1" wrap="square" lIns="91450" tIns="45700" rIns="91450"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21</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0528881256_0_26:notes"/>
          <p:cNvSpPr>
            <a:spLocks noGrp="1" noRot="1" noChangeAspect="1"/>
          </p:cNvSpPr>
          <p:nvPr>
            <p:ph type="sldImg" idx="2"/>
          </p:nvPr>
        </p:nvSpPr>
        <p:spPr>
          <a:xfrm>
            <a:off x="2922588" y="506413"/>
            <a:ext cx="4081462" cy="25511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20528881256_0_26:notes"/>
          <p:cNvSpPr txBox="1">
            <a:spLocks noGrp="1"/>
          </p:cNvSpPr>
          <p:nvPr>
            <p:ph type="body" idx="1"/>
          </p:nvPr>
        </p:nvSpPr>
        <p:spPr>
          <a:xfrm>
            <a:off x="992666" y="3228900"/>
            <a:ext cx="7941300" cy="3059100"/>
          </a:xfrm>
          <a:prstGeom prst="rect">
            <a:avLst/>
          </a:prstGeom>
        </p:spPr>
        <p:txBody>
          <a:bodyPr spcFirstLastPara="1" wrap="square" lIns="91450" tIns="45700" rIns="91450" bIns="45700" anchor="t" anchorCtr="0">
            <a:noAutofit/>
          </a:bodyPr>
          <a:lstStyle/>
          <a:p>
            <a:pPr marL="0" lvl="0" indent="0" algn="l" rtl="0">
              <a:spcBef>
                <a:spcPts val="0"/>
              </a:spcBef>
              <a:spcAft>
                <a:spcPts val="0"/>
              </a:spcAft>
              <a:buNone/>
            </a:pPr>
            <a:endParaRPr/>
          </a:p>
        </p:txBody>
      </p:sp>
      <p:sp>
        <p:nvSpPr>
          <p:cNvPr id="56" name="Google Shape;56;g20528881256_0_26:notes"/>
          <p:cNvSpPr txBox="1">
            <a:spLocks noGrp="1"/>
          </p:cNvSpPr>
          <p:nvPr>
            <p:ph type="sldNum" idx="12"/>
          </p:nvPr>
        </p:nvSpPr>
        <p:spPr>
          <a:xfrm>
            <a:off x="5622813" y="6456616"/>
            <a:ext cx="4301400" cy="339900"/>
          </a:xfrm>
          <a:prstGeom prst="rect">
            <a:avLst/>
          </a:prstGeom>
        </p:spPr>
        <p:txBody>
          <a:bodyPr spcFirstLastPara="1" wrap="square" lIns="91450" tIns="45700" rIns="91450"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22</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0528881256_0_34:notes"/>
          <p:cNvSpPr>
            <a:spLocks noGrp="1" noRot="1" noChangeAspect="1"/>
          </p:cNvSpPr>
          <p:nvPr>
            <p:ph type="sldImg" idx="2"/>
          </p:nvPr>
        </p:nvSpPr>
        <p:spPr>
          <a:xfrm>
            <a:off x="2922588" y="506413"/>
            <a:ext cx="4081462" cy="25511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0528881256_0_34:notes"/>
          <p:cNvSpPr txBox="1">
            <a:spLocks noGrp="1"/>
          </p:cNvSpPr>
          <p:nvPr>
            <p:ph type="body" idx="1"/>
          </p:nvPr>
        </p:nvSpPr>
        <p:spPr>
          <a:xfrm>
            <a:off x="992666" y="3228900"/>
            <a:ext cx="7941300" cy="3059100"/>
          </a:xfrm>
          <a:prstGeom prst="rect">
            <a:avLst/>
          </a:prstGeom>
        </p:spPr>
        <p:txBody>
          <a:bodyPr spcFirstLastPara="1" wrap="square" lIns="91450" tIns="45700" rIns="91450" bIns="45700" anchor="t" anchorCtr="0">
            <a:noAutofit/>
          </a:bodyPr>
          <a:lstStyle/>
          <a:p>
            <a:pPr marL="0" lvl="0" indent="0" algn="l" rtl="0">
              <a:spcBef>
                <a:spcPts val="0"/>
              </a:spcBef>
              <a:spcAft>
                <a:spcPts val="0"/>
              </a:spcAft>
              <a:buNone/>
            </a:pPr>
            <a:endParaRPr/>
          </a:p>
        </p:txBody>
      </p:sp>
      <p:sp>
        <p:nvSpPr>
          <p:cNvPr id="63" name="Google Shape;63;g20528881256_0_34:notes"/>
          <p:cNvSpPr txBox="1">
            <a:spLocks noGrp="1"/>
          </p:cNvSpPr>
          <p:nvPr>
            <p:ph type="sldNum" idx="12"/>
          </p:nvPr>
        </p:nvSpPr>
        <p:spPr>
          <a:xfrm>
            <a:off x="5622813" y="6456616"/>
            <a:ext cx="4301400" cy="339900"/>
          </a:xfrm>
          <a:prstGeom prst="rect">
            <a:avLst/>
          </a:prstGeom>
        </p:spPr>
        <p:txBody>
          <a:bodyPr spcFirstLastPara="1" wrap="square" lIns="91450" tIns="45700" rIns="91450"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23</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txBox="1">
            <a:spLocks noGrp="1"/>
          </p:cNvSpPr>
          <p:nvPr>
            <p:ph type="body" idx="1"/>
          </p:nvPr>
        </p:nvSpPr>
        <p:spPr>
          <a:xfrm>
            <a:off x="992666" y="3228900"/>
            <a:ext cx="7941310" cy="3058954"/>
          </a:xfrm>
          <a:prstGeom prst="rect">
            <a:avLst/>
          </a:prstGeom>
        </p:spPr>
        <p:txBody>
          <a:bodyPr spcFirstLastPara="1" wrap="square" lIns="91450" tIns="45700" rIns="91450" bIns="45700" anchor="t" anchorCtr="0">
            <a:noAutofit/>
          </a:bodyPr>
          <a:lstStyle/>
          <a:p>
            <a:pPr marL="0" lvl="0" indent="0" algn="l" rtl="0">
              <a:spcBef>
                <a:spcPts val="0"/>
              </a:spcBef>
              <a:spcAft>
                <a:spcPts val="0"/>
              </a:spcAft>
              <a:buNone/>
            </a:pPr>
            <a:endParaRPr/>
          </a:p>
        </p:txBody>
      </p:sp>
      <p:sp>
        <p:nvSpPr>
          <p:cNvPr id="69" name="Google Shape;69;p4:notes"/>
          <p:cNvSpPr>
            <a:spLocks noGrp="1" noRot="1" noChangeAspect="1"/>
          </p:cNvSpPr>
          <p:nvPr>
            <p:ph type="sldImg" idx="2"/>
          </p:nvPr>
        </p:nvSpPr>
        <p:spPr>
          <a:xfrm>
            <a:off x="2922588" y="506413"/>
            <a:ext cx="4081462" cy="25511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p:cSld name="Titelfolie">
    <p:spTree>
      <p:nvGrpSpPr>
        <p:cNvPr id="1" name="Shape 10"/>
        <p:cNvGrpSpPr/>
        <p:nvPr/>
      </p:nvGrpSpPr>
      <p:grpSpPr>
        <a:xfrm>
          <a:off x="0" y="0"/>
          <a:ext cx="0" cy="0"/>
          <a:chOff x="0" y="0"/>
          <a:chExt cx="0" cy="0"/>
        </a:xfrm>
      </p:grpSpPr>
      <p:sp>
        <p:nvSpPr>
          <p:cNvPr id="11" name="Google Shape;11;p6"/>
          <p:cNvSpPr/>
          <p:nvPr/>
        </p:nvSpPr>
        <p:spPr>
          <a:xfrm>
            <a:off x="-162272" y="-73698"/>
            <a:ext cx="9324000" cy="5862398"/>
          </a:xfrm>
          <a:prstGeom prst="rect">
            <a:avLst/>
          </a:prstGeom>
          <a:solidFill>
            <a:srgbClr val="00336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667" b="0" i="0" u="none" strike="noStrike" cap="none">
              <a:solidFill>
                <a:schemeClr val="lt1"/>
              </a:solidFill>
              <a:latin typeface="Arial"/>
              <a:ea typeface="Arial"/>
              <a:cs typeface="Arial"/>
              <a:sym typeface="Arial"/>
            </a:endParaRPr>
          </a:p>
        </p:txBody>
      </p:sp>
      <p:sp>
        <p:nvSpPr>
          <p:cNvPr id="12" name="Google Shape;12;p6"/>
          <p:cNvSpPr txBox="1"/>
          <p:nvPr/>
        </p:nvSpPr>
        <p:spPr>
          <a:xfrm>
            <a:off x="322040" y="1345332"/>
            <a:ext cx="8210400" cy="14157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2400"/>
              <a:buFont typeface="Arial"/>
              <a:buNone/>
            </a:pPr>
            <a:r>
              <a:rPr lang="de-DE" sz="2400" b="0" i="0" u="none" strike="noStrike" cap="none">
                <a:solidFill>
                  <a:schemeClr val="lt1"/>
                </a:solidFill>
                <a:latin typeface="Arial"/>
                <a:ea typeface="Arial"/>
                <a:cs typeface="Arial"/>
                <a:sym typeface="Arial"/>
              </a:rPr>
              <a:t>Group #: Student 1, Student 2, Student 3, Student 4, Student 5</a:t>
            </a:r>
            <a:endParaRPr/>
          </a:p>
          <a:p>
            <a:pPr marL="0" marR="0" lvl="0" indent="0" algn="l" rtl="0">
              <a:lnSpc>
                <a:spcPct val="100000"/>
              </a:lnSpc>
              <a:spcBef>
                <a:spcPts val="1200"/>
              </a:spcBef>
              <a:spcAft>
                <a:spcPts val="0"/>
              </a:spcAft>
              <a:buClr>
                <a:schemeClr val="lt1"/>
              </a:buClr>
              <a:buSzPts val="2800"/>
              <a:buFont typeface="Arial"/>
              <a:buNone/>
            </a:pPr>
            <a:r>
              <a:rPr lang="de-DE" sz="2800" b="0" i="0" u="none" strike="noStrike" cap="none">
                <a:solidFill>
                  <a:schemeClr val="lt1"/>
                </a:solidFill>
                <a:latin typeface="Arial"/>
                <a:ea typeface="Arial"/>
                <a:cs typeface="Arial"/>
                <a:sym typeface="Arial"/>
              </a:rPr>
              <a:t>Title</a:t>
            </a:r>
            <a:endParaRPr sz="2800" b="0" i="0" u="none" strike="noStrike" cap="none">
              <a:solidFill>
                <a:schemeClr val="lt1"/>
              </a:solidFill>
              <a:latin typeface="Arial"/>
              <a:ea typeface="Arial"/>
              <a:cs typeface="Arial"/>
              <a:sym typeface="Arial"/>
            </a:endParaRPr>
          </a:p>
        </p:txBody>
      </p:sp>
      <p:sp>
        <p:nvSpPr>
          <p:cNvPr id="13" name="Google Shape;13;p6"/>
          <p:cNvSpPr txBox="1"/>
          <p:nvPr/>
        </p:nvSpPr>
        <p:spPr>
          <a:xfrm>
            <a:off x="322040" y="265212"/>
            <a:ext cx="8669500" cy="307777"/>
          </a:xfrm>
          <a:prstGeom prst="rect">
            <a:avLst/>
          </a:prstGeom>
          <a:noFill/>
          <a:ln>
            <a:noFill/>
          </a:ln>
        </p:spPr>
        <p:txBody>
          <a:bodyPr spcFirstLastPara="1" wrap="square" lIns="91425" tIns="45700" rIns="91425" bIns="45700" anchor="b" anchorCtr="0">
            <a:spAutoFit/>
          </a:bodyPr>
          <a:lstStyle/>
          <a:p>
            <a:pPr marL="0" marR="0" lvl="0" indent="0" algn="l" rtl="0">
              <a:lnSpc>
                <a:spcPct val="100000"/>
              </a:lnSpc>
              <a:spcBef>
                <a:spcPts val="0"/>
              </a:spcBef>
              <a:spcAft>
                <a:spcPts val="0"/>
              </a:spcAft>
              <a:buClr>
                <a:schemeClr val="lt1"/>
              </a:buClr>
              <a:buSzPts val="1400"/>
              <a:buFont typeface="Arial"/>
              <a:buNone/>
            </a:pPr>
            <a:r>
              <a:rPr lang="de-DE" sz="1400" b="0" i="0" u="none" strike="noStrike" cap="none">
                <a:solidFill>
                  <a:schemeClr val="lt1"/>
                </a:solidFill>
                <a:latin typeface="Arial"/>
                <a:ea typeface="Arial"/>
                <a:cs typeface="Arial"/>
                <a:sym typeface="Arial"/>
              </a:rPr>
              <a:t>Construction Robotics WS 2022/23 final presentation, February 6, 2023</a:t>
            </a:r>
            <a:endParaRPr sz="1400" b="0" i="0" u="none" strike="noStrike" cap="none">
              <a:solidFill>
                <a:schemeClr val="lt1"/>
              </a:solidFill>
              <a:latin typeface="Arial"/>
              <a:ea typeface="Arial"/>
              <a:cs typeface="Arial"/>
              <a:sym typeface="Arial"/>
            </a:endParaRPr>
          </a:p>
        </p:txBody>
      </p:sp>
      <p:sp>
        <p:nvSpPr>
          <p:cNvPr id="14" name="Google Shape;14;p6"/>
          <p:cNvSpPr txBox="1"/>
          <p:nvPr/>
        </p:nvSpPr>
        <p:spPr>
          <a:xfrm>
            <a:off x="2898616" y="4263110"/>
            <a:ext cx="5765388" cy="1200329"/>
          </a:xfrm>
          <a:prstGeom prst="rect">
            <a:avLst/>
          </a:prstGeom>
          <a:noFill/>
          <a:ln>
            <a:noFill/>
          </a:ln>
        </p:spPr>
        <p:txBody>
          <a:bodyPr spcFirstLastPara="1" wrap="square" lIns="91425" tIns="45700" rIns="91425" bIns="45700" anchor="b" anchorCtr="0">
            <a:spAutoFit/>
          </a:bodyPr>
          <a:lstStyle/>
          <a:p>
            <a:pPr marL="0" marR="0" lvl="0" indent="0" algn="r" rtl="0">
              <a:lnSpc>
                <a:spcPct val="100000"/>
              </a:lnSpc>
              <a:spcBef>
                <a:spcPts val="0"/>
              </a:spcBef>
              <a:spcAft>
                <a:spcPts val="0"/>
              </a:spcAft>
              <a:buClr>
                <a:schemeClr val="lt1"/>
              </a:buClr>
              <a:buSzPts val="1800"/>
              <a:buFont typeface="Arial"/>
              <a:buNone/>
            </a:pPr>
            <a:r>
              <a:rPr lang="de-DE" sz="1800" b="0" i="0" u="none" strike="noStrike" cap="none">
                <a:solidFill>
                  <a:schemeClr val="lt1"/>
                </a:solidFill>
                <a:latin typeface="Arial"/>
                <a:ea typeface="Arial"/>
                <a:cs typeface="Arial"/>
                <a:sym typeface="Arial"/>
              </a:rPr>
              <a:t>Institute of Digital and Autonomous Construction</a:t>
            </a:r>
            <a:endParaRPr/>
          </a:p>
          <a:p>
            <a:pPr marL="0" marR="0" lvl="0" indent="0" algn="r" rtl="0">
              <a:lnSpc>
                <a:spcPct val="100000"/>
              </a:lnSpc>
              <a:spcBef>
                <a:spcPts val="0"/>
              </a:spcBef>
              <a:spcAft>
                <a:spcPts val="0"/>
              </a:spcAft>
              <a:buClr>
                <a:schemeClr val="lt1"/>
              </a:buClr>
              <a:buSzPts val="1800"/>
              <a:buFont typeface="Arial"/>
              <a:buNone/>
            </a:pPr>
            <a:r>
              <a:rPr lang="de-DE" sz="1800" b="0" i="0" u="none" strike="noStrike" cap="none">
                <a:solidFill>
                  <a:schemeClr val="lt1"/>
                </a:solidFill>
                <a:latin typeface="Arial"/>
                <a:ea typeface="Arial"/>
                <a:cs typeface="Arial"/>
                <a:sym typeface="Arial"/>
              </a:rPr>
              <a:t>Hamburg University of Technology</a:t>
            </a:r>
            <a:endParaRPr/>
          </a:p>
          <a:p>
            <a:pPr marL="0" marR="0" lvl="0" indent="0" algn="r" rtl="0">
              <a:lnSpc>
                <a:spcPct val="100000"/>
              </a:lnSpc>
              <a:spcBef>
                <a:spcPts val="0"/>
              </a:spcBef>
              <a:spcAft>
                <a:spcPts val="0"/>
              </a:spcAft>
              <a:buClr>
                <a:schemeClr val="lt1"/>
              </a:buClr>
              <a:buSzPts val="1800"/>
              <a:buFont typeface="Arial"/>
              <a:buNone/>
            </a:pPr>
            <a:r>
              <a:rPr lang="de-DE" sz="1800" b="0" i="0" u="none" strike="noStrike" cap="none">
                <a:solidFill>
                  <a:schemeClr val="lt1"/>
                </a:solidFill>
                <a:latin typeface="Arial"/>
                <a:ea typeface="Arial"/>
                <a:cs typeface="Arial"/>
                <a:sym typeface="Arial"/>
              </a:rPr>
              <a:t>Blohmstraße 15</a:t>
            </a:r>
            <a:endParaRPr/>
          </a:p>
          <a:p>
            <a:pPr marL="0" marR="0" lvl="0" indent="0" algn="r" rtl="0">
              <a:lnSpc>
                <a:spcPct val="100000"/>
              </a:lnSpc>
              <a:spcBef>
                <a:spcPts val="0"/>
              </a:spcBef>
              <a:spcAft>
                <a:spcPts val="0"/>
              </a:spcAft>
              <a:buClr>
                <a:schemeClr val="lt1"/>
              </a:buClr>
              <a:buSzPts val="1800"/>
              <a:buFont typeface="Arial"/>
              <a:buNone/>
            </a:pPr>
            <a:r>
              <a:rPr lang="de-DE" sz="1800" b="0" i="0" u="none" strike="noStrike" cap="none">
                <a:solidFill>
                  <a:schemeClr val="lt1"/>
                </a:solidFill>
                <a:latin typeface="Arial"/>
                <a:ea typeface="Arial"/>
                <a:cs typeface="Arial"/>
                <a:sym typeface="Arial"/>
              </a:rPr>
              <a:t>21079 Hamburg</a:t>
            </a:r>
            <a:endParaRPr/>
          </a:p>
        </p:txBody>
      </p:sp>
      <p:pic>
        <p:nvPicPr>
          <p:cNvPr id="15" name="Google Shape;15;p6"/>
          <p:cNvPicPr preferRelativeResize="0"/>
          <p:nvPr/>
        </p:nvPicPr>
        <p:blipFill rotWithShape="1">
          <a:blip r:embed="rId2">
            <a:alphaModFix/>
          </a:blip>
          <a:srcRect/>
          <a:stretch/>
        </p:blipFill>
        <p:spPr>
          <a:xfrm>
            <a:off x="442800" y="3888000"/>
            <a:ext cx="2170946" cy="1530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olie">
  <p:cSld name="Folie">
    <p:spTree>
      <p:nvGrpSpPr>
        <p:cNvPr id="1" name="Shape 16"/>
        <p:cNvGrpSpPr/>
        <p:nvPr/>
      </p:nvGrpSpPr>
      <p:grpSpPr>
        <a:xfrm>
          <a:off x="0" y="0"/>
          <a:ext cx="0" cy="0"/>
          <a:chOff x="0" y="0"/>
          <a:chExt cx="0" cy="0"/>
        </a:xfrm>
      </p:grpSpPr>
      <p:sp>
        <p:nvSpPr>
          <p:cNvPr id="17" name="Google Shape;17;p7"/>
          <p:cNvSpPr txBox="1"/>
          <p:nvPr/>
        </p:nvSpPr>
        <p:spPr>
          <a:xfrm>
            <a:off x="1181572" y="5188468"/>
            <a:ext cx="7407636" cy="369332"/>
          </a:xfrm>
          <a:prstGeom prst="rect">
            <a:avLst/>
          </a:prstGeom>
          <a:noFill/>
          <a:ln>
            <a:noFill/>
          </a:ln>
        </p:spPr>
        <p:txBody>
          <a:bodyPr spcFirstLastPara="1" wrap="square" lIns="91425" tIns="45700" rIns="91425" bIns="45700" anchor="b" anchorCtr="0">
            <a:spAutoFit/>
          </a:bodyPr>
          <a:lstStyle/>
          <a:p>
            <a:pPr marL="0" marR="0" lvl="0" indent="0" algn="l" rtl="0">
              <a:lnSpc>
                <a:spcPct val="100000"/>
              </a:lnSpc>
              <a:spcBef>
                <a:spcPts val="0"/>
              </a:spcBef>
              <a:spcAft>
                <a:spcPts val="0"/>
              </a:spcAft>
              <a:buClr>
                <a:schemeClr val="dk1"/>
              </a:buClr>
              <a:buSzPts val="900"/>
              <a:buFont typeface="Arial"/>
              <a:buNone/>
            </a:pPr>
            <a:r>
              <a:rPr lang="de-DE" sz="900" b="0" i="0" u="none" strike="noStrike" cap="none">
                <a:solidFill>
                  <a:schemeClr val="dk1"/>
                </a:solidFill>
                <a:latin typeface="Arial"/>
                <a:ea typeface="Arial"/>
                <a:cs typeface="Arial"/>
                <a:sym typeface="Arial"/>
              </a:rPr>
              <a:t>Group # – Title</a:t>
            </a:r>
            <a:endParaRPr sz="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900"/>
              <a:buFont typeface="Arial"/>
              <a:buNone/>
            </a:pPr>
            <a:r>
              <a:rPr lang="de-DE" sz="900" b="0" i="0" u="none" strike="noStrike" cap="none">
                <a:solidFill>
                  <a:schemeClr val="dk1"/>
                </a:solidFill>
                <a:latin typeface="Arial"/>
                <a:ea typeface="Arial"/>
                <a:cs typeface="Arial"/>
                <a:sym typeface="Arial"/>
              </a:rPr>
              <a:t>Construction Robotics WS 2022/23 final presentation, February 6, 2023</a:t>
            </a:r>
            <a:endParaRPr sz="900" b="0" i="0" u="none" strike="noStrike" cap="none">
              <a:solidFill>
                <a:schemeClr val="dk1"/>
              </a:solidFill>
              <a:latin typeface="Arial"/>
              <a:ea typeface="Arial"/>
              <a:cs typeface="Arial"/>
              <a:sym typeface="Arial"/>
            </a:endParaRPr>
          </a:p>
        </p:txBody>
      </p:sp>
      <p:sp>
        <p:nvSpPr>
          <p:cNvPr id="18" name="Google Shape;18;p7"/>
          <p:cNvSpPr/>
          <p:nvPr/>
        </p:nvSpPr>
        <p:spPr>
          <a:xfrm>
            <a:off x="0" y="0"/>
            <a:ext cx="9144000" cy="769268"/>
          </a:xfrm>
          <a:prstGeom prst="rect">
            <a:avLst/>
          </a:prstGeom>
          <a:solidFill>
            <a:srgbClr val="003366"/>
          </a:solidFill>
          <a:ln>
            <a:noFill/>
          </a:ln>
          <a:effectLst>
            <a:outerShdw blurRad="63500" dist="25400" dir="5400000" sx="101000" sy="101000" algn="t"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667" b="0" i="0" u="none" strike="noStrike" cap="none">
              <a:solidFill>
                <a:schemeClr val="lt1"/>
              </a:solidFill>
              <a:latin typeface="Arial"/>
              <a:ea typeface="Arial"/>
              <a:cs typeface="Arial"/>
              <a:sym typeface="Arial"/>
            </a:endParaRPr>
          </a:p>
        </p:txBody>
      </p:sp>
      <p:sp>
        <p:nvSpPr>
          <p:cNvPr id="19" name="Google Shape;19;p7"/>
          <p:cNvSpPr txBox="1"/>
          <p:nvPr/>
        </p:nvSpPr>
        <p:spPr>
          <a:xfrm>
            <a:off x="8316416" y="5351911"/>
            <a:ext cx="576064" cy="205889"/>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de-DE" sz="900" b="0" i="0" u="none" strike="noStrike" cap="none">
                <a:solidFill>
                  <a:schemeClr val="dk1"/>
                </a:solidFill>
                <a:latin typeface="Arial"/>
                <a:ea typeface="Arial"/>
                <a:cs typeface="Arial"/>
                <a:sym typeface="Arial"/>
              </a:rPr>
              <a:t>‹#›</a:t>
            </a:fld>
            <a:endParaRPr sz="900" b="0" i="0" u="none" strike="noStrike" cap="none">
              <a:solidFill>
                <a:schemeClr val="dk1"/>
              </a:solidFill>
              <a:latin typeface="Arial"/>
              <a:ea typeface="Arial"/>
              <a:cs typeface="Arial"/>
              <a:sym typeface="Arial"/>
            </a:endParaRPr>
          </a:p>
        </p:txBody>
      </p:sp>
      <p:pic>
        <p:nvPicPr>
          <p:cNvPr id="20" name="Google Shape;20;p7"/>
          <p:cNvPicPr preferRelativeResize="0"/>
          <p:nvPr/>
        </p:nvPicPr>
        <p:blipFill rotWithShape="1">
          <a:blip r:embed="rId2">
            <a:alphaModFix/>
          </a:blip>
          <a:srcRect/>
          <a:stretch/>
        </p:blipFill>
        <p:spPr>
          <a:xfrm>
            <a:off x="308288" y="5261998"/>
            <a:ext cx="792088" cy="224077"/>
          </a:xfrm>
          <a:prstGeom prst="rect">
            <a:avLst/>
          </a:prstGeom>
          <a:noFill/>
          <a:ln>
            <a:noFill/>
          </a:ln>
        </p:spPr>
      </p:pic>
      <p:sp>
        <p:nvSpPr>
          <p:cNvPr id="21" name="Google Shape;21;p7"/>
          <p:cNvSpPr txBox="1">
            <a:spLocks noGrp="1"/>
          </p:cNvSpPr>
          <p:nvPr>
            <p:ph type="title"/>
          </p:nvPr>
        </p:nvSpPr>
        <p:spPr>
          <a:xfrm>
            <a:off x="284400" y="198000"/>
            <a:ext cx="8629200" cy="399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lt1"/>
              </a:buClr>
              <a:buSzPts val="2600"/>
              <a:buFont typeface="Arial"/>
              <a:buNone/>
              <a:defRPr sz="26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7"/>
          <p:cNvSpPr txBox="1">
            <a:spLocks noGrp="1"/>
          </p:cNvSpPr>
          <p:nvPr>
            <p:ph type="body" idx="1"/>
          </p:nvPr>
        </p:nvSpPr>
        <p:spPr>
          <a:xfrm>
            <a:off x="284400" y="975600"/>
            <a:ext cx="8629200" cy="277200"/>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360"/>
              </a:spcBef>
              <a:spcAft>
                <a:spcPts val="0"/>
              </a:spcAft>
              <a:buClr>
                <a:schemeClr val="dk1"/>
              </a:buClr>
              <a:buSzPts val="1800"/>
              <a:buFont typeface="Arial"/>
              <a:buNone/>
              <a:defRPr sz="1800" b="1" i="0" u="none" strike="noStrike" cap="none">
                <a:solidFill>
                  <a:schemeClr val="dk1"/>
                </a:solidFill>
                <a:latin typeface="Arial"/>
                <a:ea typeface="Arial"/>
                <a:cs typeface="Arial"/>
                <a:sym typeface="Arial"/>
              </a:defRPr>
            </a:lvl1pPr>
            <a:lvl2pPr marL="914400" marR="0" lvl="1" indent="-376745" algn="l" rtl="0">
              <a:spcBef>
                <a:spcPts val="467"/>
              </a:spcBef>
              <a:spcAft>
                <a:spcPts val="0"/>
              </a:spcAft>
              <a:buClr>
                <a:schemeClr val="dk1"/>
              </a:buClr>
              <a:buSzPts val="2333"/>
              <a:buFont typeface="Arial"/>
              <a:buChar char="–"/>
              <a:defRPr sz="2333"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4pPr>
            <a:lvl5pPr marL="2286000" marR="0" lvl="4"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5pPr>
            <a:lvl6pPr marL="2743200" marR="0" lvl="5"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6pPr>
            <a:lvl7pPr marL="3200400" marR="0" lvl="6"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7pPr>
            <a:lvl8pPr marL="3657600" marR="0" lvl="7"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8pPr>
            <a:lvl9pPr marL="4114800" marR="0" lvl="8"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9pPr>
          </a:lstStyle>
          <a:p>
            <a:endParaRPr/>
          </a:p>
        </p:txBody>
      </p:sp>
      <p:sp>
        <p:nvSpPr>
          <p:cNvPr id="23" name="Google Shape;23;p7"/>
          <p:cNvSpPr txBox="1">
            <a:spLocks noGrp="1"/>
          </p:cNvSpPr>
          <p:nvPr>
            <p:ph type="body" idx="2"/>
          </p:nvPr>
        </p:nvSpPr>
        <p:spPr>
          <a:xfrm>
            <a:off x="284400" y="1440000"/>
            <a:ext cx="8629200" cy="3672000"/>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6pPr>
            <a:lvl7pPr marL="3200400" marR="0" lvl="6"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7pPr>
            <a:lvl8pPr marL="3657600" marR="0" lvl="7"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8pPr>
            <a:lvl9pPr marL="4114800" marR="0" lvl="8" indent="-334454" algn="l" rtl="0">
              <a:spcBef>
                <a:spcPts val="333"/>
              </a:spcBef>
              <a:spcAft>
                <a:spcPts val="0"/>
              </a:spcAft>
              <a:buClr>
                <a:schemeClr val="dk1"/>
              </a:buClr>
              <a:buSzPts val="1667"/>
              <a:buFont typeface="Arial"/>
              <a:buChar char="•"/>
              <a:defRPr sz="1667"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4.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1.gif"/></Relationships>
</file>

<file path=ppt/slides/_rels/slide20.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A36F51-310C-C018-A416-962EA812E895}"/>
              </a:ext>
            </a:extLst>
          </p:cNvPr>
          <p:cNvSpPr/>
          <p:nvPr/>
        </p:nvSpPr>
        <p:spPr>
          <a:xfrm>
            <a:off x="-16" y="0"/>
            <a:ext cx="9145596" cy="5714999"/>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BD61DB0-88DA-5FC6-6DCE-4969204AE6B6}"/>
              </a:ext>
            </a:extLst>
          </p:cNvPr>
          <p:cNvSpPr txBox="1"/>
          <p:nvPr/>
        </p:nvSpPr>
        <p:spPr>
          <a:xfrm>
            <a:off x="290519" y="196256"/>
            <a:ext cx="6578530" cy="30777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Construction Robotics WS 2022/23 final presentation, February 6, 2023</a:t>
            </a:r>
          </a:p>
        </p:txBody>
      </p:sp>
      <p:sp>
        <p:nvSpPr>
          <p:cNvPr id="7" name="TextBox 6">
            <a:extLst>
              <a:ext uri="{FF2B5EF4-FFF2-40B4-BE49-F238E27FC236}">
                <a16:creationId xmlns:a16="http://schemas.microsoft.com/office/drawing/2014/main" id="{C076AA90-F5C5-BD86-C1FE-9CF04FC45B7C}"/>
              </a:ext>
            </a:extLst>
          </p:cNvPr>
          <p:cNvSpPr txBox="1"/>
          <p:nvPr/>
        </p:nvSpPr>
        <p:spPr>
          <a:xfrm>
            <a:off x="290411" y="1208942"/>
            <a:ext cx="815643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bg1"/>
                </a:solidFill>
              </a:rPr>
              <a:t>Group 1 :  </a:t>
            </a:r>
            <a:r>
              <a:rPr lang="en-US" sz="1800">
                <a:solidFill>
                  <a:schemeClr val="bg1"/>
                </a:solidFill>
              </a:rPr>
              <a:t>Moayed </a:t>
            </a:r>
            <a:r>
              <a:rPr lang="en-US" sz="1800" err="1">
                <a:solidFill>
                  <a:schemeClr val="bg1"/>
                </a:solidFill>
              </a:rPr>
              <a:t>Elmoursi</a:t>
            </a:r>
            <a:r>
              <a:rPr lang="en-US" sz="1800">
                <a:solidFill>
                  <a:schemeClr val="bg1"/>
                </a:solidFill>
              </a:rPr>
              <a:t>, Rami Nasr, Abdelrahman </a:t>
            </a:r>
            <a:r>
              <a:rPr lang="en-US" sz="1800" err="1">
                <a:solidFill>
                  <a:schemeClr val="bg1"/>
                </a:solidFill>
              </a:rPr>
              <a:t>Abounida</a:t>
            </a:r>
            <a:r>
              <a:rPr lang="en-US" sz="1800">
                <a:solidFill>
                  <a:schemeClr val="bg1"/>
                </a:solidFill>
              </a:rPr>
              <a:t>, Utku </a:t>
            </a:r>
            <a:r>
              <a:rPr lang="en-US" sz="1800" err="1">
                <a:solidFill>
                  <a:schemeClr val="bg1"/>
                </a:solidFill>
              </a:rPr>
              <a:t>Elagoz</a:t>
            </a:r>
            <a:r>
              <a:rPr lang="en-US" sz="1800">
                <a:solidFill>
                  <a:schemeClr val="bg1"/>
                </a:solidFill>
              </a:rPr>
              <a:t>,  Ararat Cetinkaya</a:t>
            </a:r>
          </a:p>
        </p:txBody>
      </p:sp>
      <p:sp>
        <p:nvSpPr>
          <p:cNvPr id="8" name="TextBox 7">
            <a:extLst>
              <a:ext uri="{FF2B5EF4-FFF2-40B4-BE49-F238E27FC236}">
                <a16:creationId xmlns:a16="http://schemas.microsoft.com/office/drawing/2014/main" id="{9F21F4FE-53B0-5B57-0450-90E7F07CA229}"/>
              </a:ext>
            </a:extLst>
          </p:cNvPr>
          <p:cNvSpPr txBox="1"/>
          <p:nvPr/>
        </p:nvSpPr>
        <p:spPr>
          <a:xfrm>
            <a:off x="290401" y="2284430"/>
            <a:ext cx="7303916" cy="83099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FFFFFF"/>
                </a:solidFill>
              </a:rPr>
              <a:t>Robust Fiducial Markers Detection And Following Using Quadruped Robot</a:t>
            </a:r>
            <a:endParaRPr lang="en-US"/>
          </a:p>
        </p:txBody>
      </p:sp>
      <p:pic>
        <p:nvPicPr>
          <p:cNvPr id="9" name="Picture 9" descr="Text&#10;&#10;Description automatically generated">
            <a:extLst>
              <a:ext uri="{FF2B5EF4-FFF2-40B4-BE49-F238E27FC236}">
                <a16:creationId xmlns:a16="http://schemas.microsoft.com/office/drawing/2014/main" id="{F82F007B-4682-248E-B859-5FA1A0596100}"/>
              </a:ext>
            </a:extLst>
          </p:cNvPr>
          <p:cNvPicPr>
            <a:picLocks noChangeAspect="1"/>
          </p:cNvPicPr>
          <p:nvPr/>
        </p:nvPicPr>
        <p:blipFill>
          <a:blip r:embed="rId2"/>
          <a:stretch>
            <a:fillRect/>
          </a:stretch>
        </p:blipFill>
        <p:spPr>
          <a:xfrm>
            <a:off x="288145" y="4326392"/>
            <a:ext cx="1841685" cy="1285663"/>
          </a:xfrm>
          <a:prstGeom prst="rect">
            <a:avLst/>
          </a:prstGeom>
        </p:spPr>
      </p:pic>
      <p:sp>
        <p:nvSpPr>
          <p:cNvPr id="10" name="TextBox 9">
            <a:extLst>
              <a:ext uri="{FF2B5EF4-FFF2-40B4-BE49-F238E27FC236}">
                <a16:creationId xmlns:a16="http://schemas.microsoft.com/office/drawing/2014/main" id="{EED26E63-171D-68AB-A8ED-42319566FC3C}"/>
              </a:ext>
            </a:extLst>
          </p:cNvPr>
          <p:cNvSpPr txBox="1"/>
          <p:nvPr/>
        </p:nvSpPr>
        <p:spPr>
          <a:xfrm>
            <a:off x="4654868" y="4655213"/>
            <a:ext cx="426308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solidFill>
                  <a:schemeClr val="bg1"/>
                </a:solidFill>
              </a:rPr>
              <a:t>Institute of Digital and Autonomous Construction</a:t>
            </a:r>
          </a:p>
          <a:p>
            <a:pPr algn="r"/>
            <a:r>
              <a:rPr lang="en-US">
                <a:solidFill>
                  <a:schemeClr val="bg1"/>
                </a:solidFill>
              </a:rPr>
              <a:t>Hamburg University of Technology</a:t>
            </a:r>
          </a:p>
          <a:p>
            <a:pPr algn="r"/>
            <a:r>
              <a:rPr lang="en-US" err="1">
                <a:solidFill>
                  <a:schemeClr val="bg1"/>
                </a:solidFill>
              </a:rPr>
              <a:t>Blohmstraße</a:t>
            </a:r>
            <a:r>
              <a:rPr lang="en-US">
                <a:solidFill>
                  <a:schemeClr val="bg1"/>
                </a:solidFill>
              </a:rPr>
              <a:t> 15</a:t>
            </a:r>
          </a:p>
          <a:p>
            <a:pPr algn="r"/>
            <a:r>
              <a:rPr lang="en-US">
                <a:solidFill>
                  <a:schemeClr val="bg1"/>
                </a:solidFill>
              </a:rPr>
              <a:t>21079 Hamburg</a:t>
            </a:r>
          </a:p>
        </p:txBody>
      </p:sp>
    </p:spTree>
    <p:extLst>
      <p:ext uri="{BB962C8B-B14F-4D97-AF65-F5344CB8AC3E}">
        <p14:creationId xmlns:p14="http://schemas.microsoft.com/office/powerpoint/2010/main" val="883684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92F4-E2D4-8415-AF48-4DA041BE5471}"/>
              </a:ext>
            </a:extLst>
          </p:cNvPr>
          <p:cNvSpPr>
            <a:spLocks noGrp="1"/>
          </p:cNvSpPr>
          <p:nvPr>
            <p:ph type="title"/>
          </p:nvPr>
        </p:nvSpPr>
        <p:spPr/>
        <p:txBody>
          <a:bodyPr/>
          <a:lstStyle/>
          <a:p>
            <a:r>
              <a:rPr lang="en-US"/>
              <a:t>Agenda</a:t>
            </a:r>
          </a:p>
        </p:txBody>
      </p:sp>
      <p:sp>
        <p:nvSpPr>
          <p:cNvPr id="5" name="TextBox 4">
            <a:extLst>
              <a:ext uri="{FF2B5EF4-FFF2-40B4-BE49-F238E27FC236}">
                <a16:creationId xmlns:a16="http://schemas.microsoft.com/office/drawing/2014/main" id="{ECCBD3A6-5A57-16DA-74B8-1D69089F7123}"/>
              </a:ext>
            </a:extLst>
          </p:cNvPr>
          <p:cNvSpPr txBox="1"/>
          <p:nvPr/>
        </p:nvSpPr>
        <p:spPr>
          <a:xfrm>
            <a:off x="505905" y="901840"/>
            <a:ext cx="7998643" cy="33715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buAutoNum type="arabicPeriod"/>
            </a:pPr>
            <a:r>
              <a:rPr lang="en-US" sz="1800">
                <a:latin typeface="Calibri"/>
                <a:ea typeface="Calibri"/>
                <a:cs typeface="Calibri"/>
              </a:rPr>
              <a:t>Problem Formulation</a:t>
            </a:r>
            <a:endParaRPr lang="en-US"/>
          </a:p>
          <a:p>
            <a:pPr>
              <a:lnSpc>
                <a:spcPct val="150000"/>
              </a:lnSpc>
              <a:buAutoNum type="arabicPeriod"/>
            </a:pPr>
            <a:r>
              <a:rPr lang="en-US" sz="1800">
                <a:latin typeface="Calibri"/>
                <a:ea typeface="Calibri"/>
                <a:cs typeface="Calibri"/>
              </a:rPr>
              <a:t>Proposed Solution</a:t>
            </a:r>
          </a:p>
          <a:p>
            <a:pPr>
              <a:lnSpc>
                <a:spcPct val="150000"/>
              </a:lnSpc>
              <a:buAutoNum type="arabicPeriod"/>
            </a:pPr>
            <a:r>
              <a:rPr lang="en-US" sz="1800">
                <a:latin typeface="Calibri"/>
                <a:ea typeface="Calibri"/>
                <a:cs typeface="Calibri"/>
              </a:rPr>
              <a:t>Camera Calibration</a:t>
            </a:r>
          </a:p>
          <a:p>
            <a:pPr>
              <a:lnSpc>
                <a:spcPct val="150000"/>
              </a:lnSpc>
              <a:buAutoNum type="arabicPeriod"/>
            </a:pPr>
            <a:r>
              <a:rPr lang="en-US" sz="1800">
                <a:latin typeface="Calibri"/>
                <a:ea typeface="Calibri"/>
                <a:cs typeface="Calibri"/>
              </a:rPr>
              <a:t>April Tag Detection</a:t>
            </a:r>
          </a:p>
          <a:p>
            <a:pPr>
              <a:lnSpc>
                <a:spcPct val="150000"/>
              </a:lnSpc>
              <a:buAutoNum type="arabicPeriod"/>
            </a:pPr>
            <a:r>
              <a:rPr lang="en-US" sz="1800">
                <a:latin typeface="Calibri"/>
                <a:ea typeface="Calibri"/>
                <a:cs typeface="Calibri"/>
              </a:rPr>
              <a:t>Control</a:t>
            </a:r>
          </a:p>
          <a:p>
            <a:pPr>
              <a:lnSpc>
                <a:spcPct val="150000"/>
              </a:lnSpc>
              <a:buAutoNum type="arabicPeriod"/>
            </a:pPr>
            <a:r>
              <a:rPr lang="en-US" sz="1800">
                <a:latin typeface="Calibri"/>
                <a:ea typeface="Calibri"/>
                <a:cs typeface="Calibri"/>
              </a:rPr>
              <a:t>Simulation Results and ROS</a:t>
            </a:r>
          </a:p>
          <a:p>
            <a:pPr>
              <a:lnSpc>
                <a:spcPct val="150000"/>
              </a:lnSpc>
              <a:buAutoNum type="arabicPeriod"/>
            </a:pPr>
            <a:r>
              <a:rPr lang="en-US" sz="1800">
                <a:latin typeface="Calibri"/>
                <a:ea typeface="Calibri"/>
                <a:cs typeface="Calibri"/>
              </a:rPr>
              <a:t>Experimental Results</a:t>
            </a:r>
          </a:p>
          <a:p>
            <a:pPr>
              <a:lnSpc>
                <a:spcPct val="150000"/>
              </a:lnSpc>
              <a:buAutoNum type="arabicPeriod"/>
            </a:pPr>
            <a:r>
              <a:rPr lang="en-US" sz="1800">
                <a:latin typeface="Calibri"/>
                <a:ea typeface="Calibri"/>
                <a:cs typeface="Calibri"/>
              </a:rPr>
              <a:t>Future Works</a:t>
            </a:r>
          </a:p>
        </p:txBody>
      </p:sp>
      <p:sp>
        <p:nvSpPr>
          <p:cNvPr id="13" name="Rectangle 12">
            <a:extLst>
              <a:ext uri="{FF2B5EF4-FFF2-40B4-BE49-F238E27FC236}">
                <a16:creationId xmlns:a16="http://schemas.microsoft.com/office/drawing/2014/main" id="{F3D754CC-503A-E69F-C6C7-7CA3EC64566A}"/>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15" name="TextBox 14">
            <a:extLst>
              <a:ext uri="{FF2B5EF4-FFF2-40B4-BE49-F238E27FC236}">
                <a16:creationId xmlns:a16="http://schemas.microsoft.com/office/drawing/2014/main" id="{124CAB4C-42A2-709C-4B5F-46F2BC8724EC}"/>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1822592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A87055D-A714-D2DD-9D11-91936254A677}"/>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8" name="TextBox 7">
            <a:extLst>
              <a:ext uri="{FF2B5EF4-FFF2-40B4-BE49-F238E27FC236}">
                <a16:creationId xmlns:a16="http://schemas.microsoft.com/office/drawing/2014/main" id="{5B9F0E6B-8F65-3EBF-950B-0FCD15C34403}"/>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cxnSp>
        <p:nvCxnSpPr>
          <p:cNvPr id="10" name="Straight Connector 9">
            <a:extLst>
              <a:ext uri="{FF2B5EF4-FFF2-40B4-BE49-F238E27FC236}">
                <a16:creationId xmlns:a16="http://schemas.microsoft.com/office/drawing/2014/main" id="{04FBDC24-7839-C3D8-A368-9B176A2446FB}"/>
              </a:ext>
            </a:extLst>
          </p:cNvPr>
          <p:cNvCxnSpPr>
            <a:cxnSpLocks/>
          </p:cNvCxnSpPr>
          <p:nvPr/>
        </p:nvCxnSpPr>
        <p:spPr>
          <a:xfrm>
            <a:off x="2007072" y="2900313"/>
            <a:ext cx="876395"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D22C6A3-3AB8-DC64-C972-CC6C41B9A19E}"/>
              </a:ext>
            </a:extLst>
          </p:cNvPr>
          <p:cNvCxnSpPr>
            <a:cxnSpLocks/>
          </p:cNvCxnSpPr>
          <p:nvPr/>
        </p:nvCxnSpPr>
        <p:spPr>
          <a:xfrm flipH="1">
            <a:off x="6553649" y="2900313"/>
            <a:ext cx="820786"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E71D307-6A8B-5E4D-561A-DAF7C3CCFE57}"/>
              </a:ext>
            </a:extLst>
          </p:cNvPr>
          <p:cNvCxnSpPr>
            <a:cxnSpLocks/>
          </p:cNvCxnSpPr>
          <p:nvPr/>
        </p:nvCxnSpPr>
        <p:spPr>
          <a:xfrm>
            <a:off x="5070007" y="2900313"/>
            <a:ext cx="789644"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AA2065B-5AD2-BADF-CAB2-C4C624C1FFE9}"/>
              </a:ext>
            </a:extLst>
          </p:cNvPr>
          <p:cNvCxnSpPr>
            <a:cxnSpLocks/>
          </p:cNvCxnSpPr>
          <p:nvPr/>
        </p:nvCxnSpPr>
        <p:spPr>
          <a:xfrm flipH="1">
            <a:off x="3544100" y="2900313"/>
            <a:ext cx="814113"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Frame 5">
            <a:extLst>
              <a:ext uri="{FF2B5EF4-FFF2-40B4-BE49-F238E27FC236}">
                <a16:creationId xmlns:a16="http://schemas.microsoft.com/office/drawing/2014/main" id="{86FBCF83-59D5-EFA7-4AA0-A2FBC1A922BD}"/>
              </a:ext>
            </a:extLst>
          </p:cNvPr>
          <p:cNvSpPr/>
          <p:nvPr/>
        </p:nvSpPr>
        <p:spPr>
          <a:xfrm flipH="1" flipV="1">
            <a:off x="2750306" y="3113550"/>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sp>
        <p:nvSpPr>
          <p:cNvPr id="20" name="Frame 4">
            <a:extLst>
              <a:ext uri="{FF2B5EF4-FFF2-40B4-BE49-F238E27FC236}">
                <a16:creationId xmlns:a16="http://schemas.microsoft.com/office/drawing/2014/main" id="{6E7A7B2D-C9AF-DEC3-7293-81EFAE91F435}"/>
              </a:ext>
            </a:extLst>
          </p:cNvPr>
          <p:cNvSpPr/>
          <p:nvPr/>
        </p:nvSpPr>
        <p:spPr>
          <a:xfrm flipH="1" flipV="1">
            <a:off x="1249461" y="2116503"/>
            <a:ext cx="927922" cy="927921"/>
          </a:xfrm>
          <a:prstGeom prst="rect">
            <a:avLst/>
          </a:prstGeom>
          <a:solidFill>
            <a:schemeClr val="accent6"/>
          </a:solidFill>
          <a:ln>
            <a:noFill/>
          </a:ln>
          <a:scene3d>
            <a:camera prst="isometricOffAxis2Top">
              <a:rot lat="19200000" lon="3000000" rev="17820000"/>
            </a:camera>
            <a:lightRig rig="soft" dir="t"/>
          </a:scene3d>
          <a:sp3d extrusionH="260350" prstMaterial="plastic">
            <a:bevelT w="12700" h="38100"/>
            <a:extrusionClr>
              <a:schemeClr val="accent6"/>
            </a:extrusionClr>
            <a:contourClr>
              <a:schemeClr val="accent6"/>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sp>
        <p:nvSpPr>
          <p:cNvPr id="22" name="TextBox 11">
            <a:extLst>
              <a:ext uri="{FF2B5EF4-FFF2-40B4-BE49-F238E27FC236}">
                <a16:creationId xmlns:a16="http://schemas.microsoft.com/office/drawing/2014/main" id="{61F6725A-551E-A606-A8C5-97A1BA48DCAF}"/>
              </a:ext>
            </a:extLst>
          </p:cNvPr>
          <p:cNvSpPr txBox="1"/>
          <p:nvPr/>
        </p:nvSpPr>
        <p:spPr>
          <a:xfrm>
            <a:off x="478103" y="3236816"/>
            <a:ext cx="2102422" cy="392415"/>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2100" b="1">
                <a:solidFill>
                  <a:schemeClr val="accent6">
                    <a:lumMod val="75000"/>
                  </a:schemeClr>
                </a:solidFill>
                <a:ea typeface="맑은 고딕"/>
                <a:cs typeface="Arial"/>
              </a:rPr>
              <a:t>Problem Analysis</a:t>
            </a:r>
            <a:endParaRPr lang="ko-KR" altLang="en-US" sz="2100" b="1">
              <a:solidFill>
                <a:schemeClr val="accent6">
                  <a:lumMod val="75000"/>
                </a:schemeClr>
              </a:solidFill>
              <a:ea typeface="맑은 고딕"/>
              <a:cs typeface="Arial" pitchFamily="34" charset="0"/>
            </a:endParaRPr>
          </a:p>
        </p:txBody>
      </p:sp>
      <p:sp>
        <p:nvSpPr>
          <p:cNvPr id="24" name="TextBox 17">
            <a:extLst>
              <a:ext uri="{FF2B5EF4-FFF2-40B4-BE49-F238E27FC236}">
                <a16:creationId xmlns:a16="http://schemas.microsoft.com/office/drawing/2014/main" id="{46C3CB22-0324-0648-D93C-A4A2DC83CFE2}"/>
              </a:ext>
            </a:extLst>
          </p:cNvPr>
          <p:cNvSpPr txBox="1"/>
          <p:nvPr/>
        </p:nvSpPr>
        <p:spPr>
          <a:xfrm>
            <a:off x="5694026" y="4208435"/>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a:solidFill>
                  <a:srgbClr val="0070C0"/>
                </a:solidFill>
                <a:ea typeface="맑은 고딕"/>
                <a:cs typeface="Arial"/>
              </a:rPr>
              <a:t>Simulation &amp; ROS</a:t>
            </a:r>
            <a:endParaRPr lang="en-US"/>
          </a:p>
        </p:txBody>
      </p:sp>
      <p:sp>
        <p:nvSpPr>
          <p:cNvPr id="26" name="TextBox 20">
            <a:extLst>
              <a:ext uri="{FF2B5EF4-FFF2-40B4-BE49-F238E27FC236}">
                <a16:creationId xmlns:a16="http://schemas.microsoft.com/office/drawing/2014/main" id="{546C810A-4F82-3B16-F79F-FCF9F7CF3823}"/>
              </a:ext>
            </a:extLst>
          </p:cNvPr>
          <p:cNvSpPr txBox="1"/>
          <p:nvPr/>
        </p:nvSpPr>
        <p:spPr>
          <a:xfrm>
            <a:off x="3953298" y="3137971"/>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err="1">
                <a:solidFill>
                  <a:srgbClr val="0070C0"/>
                </a:solidFill>
                <a:ea typeface="맑은 고딕"/>
                <a:cs typeface="Arial"/>
              </a:rPr>
              <a:t>Mldog</a:t>
            </a:r>
            <a:r>
              <a:rPr lang="en-US" altLang="ko-KR" sz="1500" b="1">
                <a:solidFill>
                  <a:srgbClr val="0070C0"/>
                </a:solidFill>
                <a:ea typeface="맑은 고딕"/>
                <a:cs typeface="Arial"/>
              </a:rPr>
              <a:t>-Control</a:t>
            </a:r>
            <a:endParaRPr lang="en-US"/>
          </a:p>
        </p:txBody>
      </p:sp>
      <p:sp>
        <p:nvSpPr>
          <p:cNvPr id="28" name="TextBox 23">
            <a:extLst>
              <a:ext uri="{FF2B5EF4-FFF2-40B4-BE49-F238E27FC236}">
                <a16:creationId xmlns:a16="http://schemas.microsoft.com/office/drawing/2014/main" id="{1D629ED0-E1A7-C800-ED21-C800DAE4A92E}"/>
              </a:ext>
            </a:extLst>
          </p:cNvPr>
          <p:cNvSpPr txBox="1"/>
          <p:nvPr/>
        </p:nvSpPr>
        <p:spPr>
          <a:xfrm>
            <a:off x="6988272" y="3137971"/>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a:solidFill>
                  <a:srgbClr val="0070C0"/>
                </a:solidFill>
                <a:ea typeface="맑은 고딕"/>
                <a:cs typeface="Arial"/>
              </a:rPr>
              <a:t>Results</a:t>
            </a:r>
            <a:endParaRPr lang="en-US"/>
          </a:p>
        </p:txBody>
      </p:sp>
      <p:grpSp>
        <p:nvGrpSpPr>
          <p:cNvPr id="32" name="Group 31">
            <a:extLst>
              <a:ext uri="{FF2B5EF4-FFF2-40B4-BE49-F238E27FC236}">
                <a16:creationId xmlns:a16="http://schemas.microsoft.com/office/drawing/2014/main" id="{4FA835A1-A0E3-0403-45A5-A4CA98F2E6BC}"/>
              </a:ext>
            </a:extLst>
          </p:cNvPr>
          <p:cNvGrpSpPr/>
          <p:nvPr/>
        </p:nvGrpSpPr>
        <p:grpSpPr>
          <a:xfrm>
            <a:off x="2747773" y="2454463"/>
            <a:ext cx="927922" cy="927922"/>
            <a:chOff x="3472880" y="3030096"/>
            <a:chExt cx="1476444" cy="1476444"/>
          </a:xfrm>
          <a:effectLst>
            <a:outerShdw blurRad="63500" sx="102000" sy="102000" algn="ctr" rotWithShape="0">
              <a:prstClr val="black">
                <a:alpha val="40000"/>
              </a:prstClr>
            </a:outerShdw>
          </a:effectLst>
        </p:grpSpPr>
        <p:sp>
          <p:nvSpPr>
            <p:cNvPr id="30" name="Teardrop 14">
              <a:extLst>
                <a:ext uri="{FF2B5EF4-FFF2-40B4-BE49-F238E27FC236}">
                  <a16:creationId xmlns:a16="http://schemas.microsoft.com/office/drawing/2014/main" id="{6D245DFC-EF88-1E8F-4397-63CBC8A3F41C}"/>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31" name="Oval 30">
              <a:extLst>
                <a:ext uri="{FF2B5EF4-FFF2-40B4-BE49-F238E27FC236}">
                  <a16:creationId xmlns:a16="http://schemas.microsoft.com/office/drawing/2014/main" id="{67BCA04F-1245-CC28-EC23-23E0B260963F}"/>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grpSp>
        <p:nvGrpSpPr>
          <p:cNvPr id="36" name="Group 35">
            <a:extLst>
              <a:ext uri="{FF2B5EF4-FFF2-40B4-BE49-F238E27FC236}">
                <a16:creationId xmlns:a16="http://schemas.microsoft.com/office/drawing/2014/main" id="{2F618755-3B36-D4D5-8177-8D4FB81E1D85}"/>
              </a:ext>
            </a:extLst>
          </p:cNvPr>
          <p:cNvGrpSpPr/>
          <p:nvPr/>
        </p:nvGrpSpPr>
        <p:grpSpPr>
          <a:xfrm>
            <a:off x="1243598" y="1461118"/>
            <a:ext cx="927922" cy="927922"/>
            <a:chOff x="1467313" y="1705637"/>
            <a:chExt cx="1476444" cy="1476444"/>
          </a:xfrm>
          <a:effectLst>
            <a:outerShdw blurRad="63500" sx="102000" sy="102000" algn="ctr" rotWithShape="0">
              <a:prstClr val="black">
                <a:alpha val="40000"/>
              </a:prstClr>
            </a:outerShdw>
          </a:effectLst>
        </p:grpSpPr>
        <p:sp>
          <p:nvSpPr>
            <p:cNvPr id="34" name="Teardrop 14">
              <a:extLst>
                <a:ext uri="{FF2B5EF4-FFF2-40B4-BE49-F238E27FC236}">
                  <a16:creationId xmlns:a16="http://schemas.microsoft.com/office/drawing/2014/main" id="{BCFE8B24-1384-D7B9-244B-52CB7CB76594}"/>
                </a:ext>
              </a:extLst>
            </p:cNvPr>
            <p:cNvSpPr/>
            <p:nvPr/>
          </p:nvSpPr>
          <p:spPr>
            <a:xfrm rot="8100000">
              <a:off x="1467313" y="1705637"/>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35" name="Oval 34">
              <a:extLst>
                <a:ext uri="{FF2B5EF4-FFF2-40B4-BE49-F238E27FC236}">
                  <a16:creationId xmlns:a16="http://schemas.microsoft.com/office/drawing/2014/main" id="{79B07CF1-41C2-E5B0-BC79-5A9A4DE75CF3}"/>
                </a:ext>
              </a:extLst>
            </p:cNvPr>
            <p:cNvSpPr/>
            <p:nvPr/>
          </p:nvSpPr>
          <p:spPr>
            <a:xfrm>
              <a:off x="1698639" y="1757663"/>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38" name="Frame 5">
            <a:extLst>
              <a:ext uri="{FF2B5EF4-FFF2-40B4-BE49-F238E27FC236}">
                <a16:creationId xmlns:a16="http://schemas.microsoft.com/office/drawing/2014/main" id="{CCB7F7B0-925D-8D27-6090-D5EB2F234DA7}"/>
              </a:ext>
            </a:extLst>
          </p:cNvPr>
          <p:cNvSpPr/>
          <p:nvPr/>
        </p:nvSpPr>
        <p:spPr>
          <a:xfrm flipH="1" flipV="1">
            <a:off x="4274306" y="2130324"/>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42" name="Group 41">
            <a:extLst>
              <a:ext uri="{FF2B5EF4-FFF2-40B4-BE49-F238E27FC236}">
                <a16:creationId xmlns:a16="http://schemas.microsoft.com/office/drawing/2014/main" id="{CF34126C-D06A-F962-1240-75AABD85F240}"/>
              </a:ext>
            </a:extLst>
          </p:cNvPr>
          <p:cNvGrpSpPr/>
          <p:nvPr/>
        </p:nvGrpSpPr>
        <p:grpSpPr>
          <a:xfrm>
            <a:off x="4271773" y="1471237"/>
            <a:ext cx="927922" cy="927922"/>
            <a:chOff x="3472880" y="3030096"/>
            <a:chExt cx="1476444" cy="1476444"/>
          </a:xfrm>
          <a:effectLst>
            <a:outerShdw blurRad="63500" sx="102000" sy="102000" algn="ctr" rotWithShape="0">
              <a:prstClr val="black">
                <a:alpha val="40000"/>
              </a:prstClr>
            </a:outerShdw>
          </a:effectLst>
        </p:grpSpPr>
        <p:sp>
          <p:nvSpPr>
            <p:cNvPr id="40" name="Teardrop 14">
              <a:extLst>
                <a:ext uri="{FF2B5EF4-FFF2-40B4-BE49-F238E27FC236}">
                  <a16:creationId xmlns:a16="http://schemas.microsoft.com/office/drawing/2014/main" id="{0725A41B-6D8E-CE7D-6390-A868E2C968BF}"/>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41" name="Oval 40">
              <a:extLst>
                <a:ext uri="{FF2B5EF4-FFF2-40B4-BE49-F238E27FC236}">
                  <a16:creationId xmlns:a16="http://schemas.microsoft.com/office/drawing/2014/main" id="{7C265197-9EA4-E653-633D-1CDF098257FF}"/>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44" name="Frame 5">
            <a:extLst>
              <a:ext uri="{FF2B5EF4-FFF2-40B4-BE49-F238E27FC236}">
                <a16:creationId xmlns:a16="http://schemas.microsoft.com/office/drawing/2014/main" id="{C2606244-C699-E36D-0856-687866B57216}"/>
              </a:ext>
            </a:extLst>
          </p:cNvPr>
          <p:cNvSpPr/>
          <p:nvPr/>
        </p:nvSpPr>
        <p:spPr>
          <a:xfrm flipH="1" flipV="1">
            <a:off x="5884338" y="3027517"/>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48" name="Group 47">
            <a:extLst>
              <a:ext uri="{FF2B5EF4-FFF2-40B4-BE49-F238E27FC236}">
                <a16:creationId xmlns:a16="http://schemas.microsoft.com/office/drawing/2014/main" id="{2438244B-1091-8387-CE4E-F8B94B246F2A}"/>
              </a:ext>
            </a:extLst>
          </p:cNvPr>
          <p:cNvGrpSpPr/>
          <p:nvPr/>
        </p:nvGrpSpPr>
        <p:grpSpPr>
          <a:xfrm>
            <a:off x="5881805" y="2368430"/>
            <a:ext cx="927922" cy="927922"/>
            <a:chOff x="3472880" y="3030096"/>
            <a:chExt cx="1476444" cy="1476444"/>
          </a:xfrm>
          <a:effectLst>
            <a:outerShdw blurRad="63500" sx="102000" sy="102000" algn="ctr" rotWithShape="0">
              <a:prstClr val="black">
                <a:alpha val="40000"/>
              </a:prstClr>
            </a:outerShdw>
          </a:effectLst>
        </p:grpSpPr>
        <p:sp>
          <p:nvSpPr>
            <p:cNvPr id="46" name="Teardrop 14">
              <a:extLst>
                <a:ext uri="{FF2B5EF4-FFF2-40B4-BE49-F238E27FC236}">
                  <a16:creationId xmlns:a16="http://schemas.microsoft.com/office/drawing/2014/main" id="{2370C082-8DFE-3CE8-8866-E9E060F1AB3C}"/>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47" name="Oval 46">
              <a:extLst>
                <a:ext uri="{FF2B5EF4-FFF2-40B4-BE49-F238E27FC236}">
                  <a16:creationId xmlns:a16="http://schemas.microsoft.com/office/drawing/2014/main" id="{747952B8-049B-48EB-F67C-8906E12829BF}"/>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50" name="Frame 5">
            <a:extLst>
              <a:ext uri="{FF2B5EF4-FFF2-40B4-BE49-F238E27FC236}">
                <a16:creationId xmlns:a16="http://schemas.microsoft.com/office/drawing/2014/main" id="{313F1DB1-DF82-D405-F529-D29F552559D9}"/>
              </a:ext>
            </a:extLst>
          </p:cNvPr>
          <p:cNvSpPr/>
          <p:nvPr/>
        </p:nvSpPr>
        <p:spPr>
          <a:xfrm flipH="1" flipV="1">
            <a:off x="7260854" y="2111888"/>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54" name="Group 53">
            <a:extLst>
              <a:ext uri="{FF2B5EF4-FFF2-40B4-BE49-F238E27FC236}">
                <a16:creationId xmlns:a16="http://schemas.microsoft.com/office/drawing/2014/main" id="{EA5F27FB-3DE4-0540-389B-338AA71FD6A1}"/>
              </a:ext>
            </a:extLst>
          </p:cNvPr>
          <p:cNvGrpSpPr/>
          <p:nvPr/>
        </p:nvGrpSpPr>
        <p:grpSpPr>
          <a:xfrm>
            <a:off x="7258321" y="1452801"/>
            <a:ext cx="927922" cy="927922"/>
            <a:chOff x="3472880" y="3030096"/>
            <a:chExt cx="1476444" cy="1476444"/>
          </a:xfrm>
          <a:effectLst>
            <a:outerShdw blurRad="63500" sx="102000" sy="102000" algn="ctr" rotWithShape="0">
              <a:prstClr val="black">
                <a:alpha val="40000"/>
              </a:prstClr>
            </a:outerShdw>
          </a:effectLst>
        </p:grpSpPr>
        <p:sp>
          <p:nvSpPr>
            <p:cNvPr id="52" name="Teardrop 14">
              <a:extLst>
                <a:ext uri="{FF2B5EF4-FFF2-40B4-BE49-F238E27FC236}">
                  <a16:creationId xmlns:a16="http://schemas.microsoft.com/office/drawing/2014/main" id="{FE65130E-378D-76FA-E4A3-8C65420F4D59}"/>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53" name="Oval 52">
              <a:extLst>
                <a:ext uri="{FF2B5EF4-FFF2-40B4-BE49-F238E27FC236}">
                  <a16:creationId xmlns:a16="http://schemas.microsoft.com/office/drawing/2014/main" id="{0FDD087F-ACE6-0342-3012-D2EF53229E8D}"/>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56" name="TextBox 11">
            <a:extLst>
              <a:ext uri="{FF2B5EF4-FFF2-40B4-BE49-F238E27FC236}">
                <a16:creationId xmlns:a16="http://schemas.microsoft.com/office/drawing/2014/main" id="{CAEB0D5E-D99E-94A7-7520-143D9DEB97F4}"/>
              </a:ext>
            </a:extLst>
          </p:cNvPr>
          <p:cNvSpPr txBox="1"/>
          <p:nvPr/>
        </p:nvSpPr>
        <p:spPr>
          <a:xfrm>
            <a:off x="2288054" y="4237408"/>
            <a:ext cx="1896731"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err="1">
                <a:solidFill>
                  <a:srgbClr val="0070C0"/>
                </a:solidFill>
                <a:ea typeface="맑은 고딕"/>
                <a:cs typeface="Arial"/>
              </a:rPr>
              <a:t>AprilTag</a:t>
            </a:r>
            <a:r>
              <a:rPr lang="en-US" altLang="ko-KR" sz="1500" b="1">
                <a:solidFill>
                  <a:srgbClr val="0070C0"/>
                </a:solidFill>
                <a:ea typeface="맑은 고딕"/>
                <a:cs typeface="Arial"/>
              </a:rPr>
              <a:t> Detection</a:t>
            </a:r>
            <a:endParaRPr lang="en-US" altLang="ko-KR"/>
          </a:p>
        </p:txBody>
      </p:sp>
      <p:pic>
        <p:nvPicPr>
          <p:cNvPr id="58" name="Picture 96">
            <a:extLst>
              <a:ext uri="{FF2B5EF4-FFF2-40B4-BE49-F238E27FC236}">
                <a16:creationId xmlns:a16="http://schemas.microsoft.com/office/drawing/2014/main" id="{1F3CE612-C6EC-0562-F062-07538B4444EC}"/>
              </a:ext>
            </a:extLst>
          </p:cNvPr>
          <p:cNvPicPr>
            <a:picLocks noChangeAspect="1"/>
          </p:cNvPicPr>
          <p:nvPr/>
        </p:nvPicPr>
        <p:blipFill>
          <a:blip r:embed="rId2"/>
          <a:stretch>
            <a:fillRect/>
          </a:stretch>
        </p:blipFill>
        <p:spPr>
          <a:xfrm>
            <a:off x="6203384" y="2560228"/>
            <a:ext cx="288317" cy="268725"/>
          </a:xfrm>
          <a:prstGeom prst="rect">
            <a:avLst/>
          </a:prstGeom>
        </p:spPr>
      </p:pic>
      <p:pic>
        <p:nvPicPr>
          <p:cNvPr id="60" name="Picture 3">
            <a:extLst>
              <a:ext uri="{FF2B5EF4-FFF2-40B4-BE49-F238E27FC236}">
                <a16:creationId xmlns:a16="http://schemas.microsoft.com/office/drawing/2014/main" id="{025AB293-B235-BA08-1355-C119F85652E4}"/>
              </a:ext>
            </a:extLst>
          </p:cNvPr>
          <p:cNvPicPr>
            <a:picLocks noChangeAspect="1"/>
          </p:cNvPicPr>
          <p:nvPr/>
        </p:nvPicPr>
        <p:blipFill>
          <a:blip r:embed="rId3"/>
          <a:stretch>
            <a:fillRect/>
          </a:stretch>
        </p:blipFill>
        <p:spPr>
          <a:xfrm>
            <a:off x="1552530" y="1642625"/>
            <a:ext cx="321469" cy="307181"/>
          </a:xfrm>
          <a:prstGeom prst="rect">
            <a:avLst/>
          </a:prstGeom>
        </p:spPr>
      </p:pic>
      <p:pic>
        <p:nvPicPr>
          <p:cNvPr id="62" name="Picture 74">
            <a:extLst>
              <a:ext uri="{FF2B5EF4-FFF2-40B4-BE49-F238E27FC236}">
                <a16:creationId xmlns:a16="http://schemas.microsoft.com/office/drawing/2014/main" id="{E216C33C-3E47-FB04-945C-045AD6C1C977}"/>
              </a:ext>
            </a:extLst>
          </p:cNvPr>
          <p:cNvPicPr>
            <a:picLocks noChangeAspect="1"/>
          </p:cNvPicPr>
          <p:nvPr/>
        </p:nvPicPr>
        <p:blipFill>
          <a:blip r:embed="rId4"/>
          <a:stretch>
            <a:fillRect/>
          </a:stretch>
        </p:blipFill>
        <p:spPr>
          <a:xfrm>
            <a:off x="4597216" y="1640540"/>
            <a:ext cx="255495" cy="295838"/>
          </a:xfrm>
          <a:prstGeom prst="rect">
            <a:avLst/>
          </a:prstGeom>
        </p:spPr>
      </p:pic>
      <p:pic>
        <p:nvPicPr>
          <p:cNvPr id="64" name="Picture 102">
            <a:extLst>
              <a:ext uri="{FF2B5EF4-FFF2-40B4-BE49-F238E27FC236}">
                <a16:creationId xmlns:a16="http://schemas.microsoft.com/office/drawing/2014/main" id="{E83E8E8F-E73C-7680-6846-1054B8E360BC}"/>
              </a:ext>
            </a:extLst>
          </p:cNvPr>
          <p:cNvPicPr>
            <a:picLocks noChangeAspect="1"/>
          </p:cNvPicPr>
          <p:nvPr/>
        </p:nvPicPr>
        <p:blipFill>
          <a:blip r:embed="rId5"/>
          <a:stretch>
            <a:fillRect/>
          </a:stretch>
        </p:blipFill>
        <p:spPr>
          <a:xfrm>
            <a:off x="7520775" y="1588201"/>
            <a:ext cx="407606" cy="407027"/>
          </a:xfrm>
          <a:prstGeom prst="rect">
            <a:avLst/>
          </a:prstGeom>
        </p:spPr>
      </p:pic>
      <p:pic>
        <p:nvPicPr>
          <p:cNvPr id="66" name="Picture 3">
            <a:extLst>
              <a:ext uri="{FF2B5EF4-FFF2-40B4-BE49-F238E27FC236}">
                <a16:creationId xmlns:a16="http://schemas.microsoft.com/office/drawing/2014/main" id="{5A4D0806-E3EE-4F14-017A-EB41F86CBCB3}"/>
              </a:ext>
            </a:extLst>
          </p:cNvPr>
          <p:cNvPicPr>
            <a:picLocks noChangeAspect="1"/>
          </p:cNvPicPr>
          <p:nvPr/>
        </p:nvPicPr>
        <p:blipFill>
          <a:blip r:embed="rId6"/>
          <a:stretch>
            <a:fillRect/>
          </a:stretch>
        </p:blipFill>
        <p:spPr>
          <a:xfrm>
            <a:off x="3035013" y="2618486"/>
            <a:ext cx="362199" cy="352425"/>
          </a:xfrm>
          <a:prstGeom prst="rect">
            <a:avLst/>
          </a:prstGeom>
        </p:spPr>
      </p:pic>
    </p:spTree>
    <p:extLst>
      <p:ext uri="{BB962C8B-B14F-4D97-AF65-F5344CB8AC3E}">
        <p14:creationId xmlns:p14="http://schemas.microsoft.com/office/powerpoint/2010/main" val="3185967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741AD-4CEB-F0C9-6FE1-41E16F11B1AA}"/>
              </a:ext>
            </a:extLst>
          </p:cNvPr>
          <p:cNvSpPr>
            <a:spLocks noGrp="1"/>
          </p:cNvSpPr>
          <p:nvPr>
            <p:ph type="title"/>
          </p:nvPr>
        </p:nvSpPr>
        <p:spPr/>
        <p:txBody>
          <a:bodyPr/>
          <a:lstStyle/>
          <a:p>
            <a:r>
              <a:rPr lang="en-US"/>
              <a:t>Problem Formulation</a:t>
            </a:r>
          </a:p>
        </p:txBody>
      </p:sp>
      <p:sp>
        <p:nvSpPr>
          <p:cNvPr id="5" name="TextBox 4">
            <a:extLst>
              <a:ext uri="{FF2B5EF4-FFF2-40B4-BE49-F238E27FC236}">
                <a16:creationId xmlns:a16="http://schemas.microsoft.com/office/drawing/2014/main" id="{54DD6C05-6957-79D8-E482-DB36FC215EFF}"/>
              </a:ext>
            </a:extLst>
          </p:cNvPr>
          <p:cNvSpPr txBox="1"/>
          <p:nvPr/>
        </p:nvSpPr>
        <p:spPr>
          <a:xfrm>
            <a:off x="238812" y="925391"/>
            <a:ext cx="8815632" cy="39241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sz="1700" dirty="0">
                <a:latin typeface="Calibri"/>
                <a:ea typeface="Calibri"/>
                <a:cs typeface="Calibri"/>
              </a:rPr>
              <a:t>Why AprilTag?</a:t>
            </a:r>
            <a:endParaRPr lang="en-US" dirty="0">
              <a:ea typeface="Calibri"/>
            </a:endParaRPr>
          </a:p>
          <a:p>
            <a:pPr marL="285750" lvl="2" indent="-285750">
              <a:buFont typeface="Wingdings"/>
              <a:buChar char="v"/>
            </a:pPr>
            <a:r>
              <a:rPr lang="en-US" sz="1700" dirty="0">
                <a:latin typeface="Calibri"/>
                <a:ea typeface="Calibri"/>
                <a:cs typeface="Calibri"/>
              </a:rPr>
              <a:t>Many real-world applications</a:t>
            </a:r>
            <a:endParaRPr lang="en-US" dirty="0">
              <a:ea typeface="Calibri"/>
            </a:endParaRPr>
          </a:p>
          <a:p>
            <a:pPr marL="285750" lvl="3" indent="-285750">
              <a:buFont typeface="Wingdings"/>
              <a:buChar char="v"/>
            </a:pPr>
            <a:r>
              <a:rPr lang="en-US" sz="1700" dirty="0">
                <a:latin typeface="Calibri"/>
                <a:ea typeface="Calibri"/>
                <a:cs typeface="Calibri"/>
              </a:rPr>
              <a:t>Agriculture</a:t>
            </a:r>
            <a:endParaRPr lang="en-US" dirty="0"/>
          </a:p>
          <a:p>
            <a:pPr marL="285750" lvl="3" indent="-285750">
              <a:buFont typeface="Wingdings"/>
              <a:buChar char="v"/>
            </a:pPr>
            <a:r>
              <a:rPr lang="en-US" sz="1700" dirty="0">
                <a:latin typeface="Calibri"/>
                <a:ea typeface="Calibri"/>
                <a:cs typeface="Calibri"/>
              </a:rPr>
              <a:t>Industrial automation</a:t>
            </a:r>
            <a:endParaRPr lang="en-US" dirty="0"/>
          </a:p>
          <a:p>
            <a:pPr marL="285750" lvl="3" indent="-285750">
              <a:buFont typeface="Wingdings"/>
              <a:buChar char="v"/>
            </a:pPr>
            <a:r>
              <a:rPr lang="en-US" sz="1700" dirty="0">
                <a:latin typeface="Calibri"/>
                <a:ea typeface="Calibri"/>
                <a:cs typeface="Calibri"/>
              </a:rPr>
              <a:t>Environmental monitoring</a:t>
            </a:r>
            <a:endParaRPr lang="en-US" dirty="0"/>
          </a:p>
          <a:p>
            <a:pPr lvl="2"/>
            <a:endParaRPr lang="en-US" sz="1700" dirty="0">
              <a:latin typeface="Calibri"/>
              <a:ea typeface="Calibri"/>
              <a:cs typeface="Calibri"/>
            </a:endParaRPr>
          </a:p>
          <a:p>
            <a:pPr lvl="1">
              <a:buChar char="•"/>
            </a:pPr>
            <a:r>
              <a:rPr lang="en-US" sz="1700" dirty="0">
                <a:latin typeface="Calibri"/>
                <a:ea typeface="Calibri"/>
                <a:cs typeface="Calibri"/>
              </a:rPr>
              <a:t> Robust</a:t>
            </a:r>
          </a:p>
          <a:p>
            <a:pPr marL="285750" lvl="2" indent="-285750">
              <a:buFont typeface="Wingdings"/>
              <a:buChar char="q"/>
            </a:pPr>
            <a:r>
              <a:rPr lang="en-US" sz="1700" dirty="0">
                <a:latin typeface="Calibri"/>
                <a:ea typeface="Calibri"/>
                <a:cs typeface="Calibri"/>
              </a:rPr>
              <a:t>Detection error rates</a:t>
            </a:r>
          </a:p>
          <a:p>
            <a:pPr marL="285750" lvl="2" indent="-285750">
              <a:buFont typeface="Wingdings"/>
              <a:buChar char="q"/>
            </a:pPr>
            <a:r>
              <a:rPr lang="en-US" sz="1700" dirty="0">
                <a:latin typeface="Calibri"/>
                <a:ea typeface="Calibri"/>
                <a:cs typeface="Calibri"/>
              </a:rPr>
              <a:t>Highly scalable</a:t>
            </a:r>
          </a:p>
          <a:p>
            <a:endParaRPr lang="en-US" dirty="0"/>
          </a:p>
          <a:p>
            <a:pPr>
              <a:buChar char="•"/>
            </a:pPr>
            <a:r>
              <a:rPr lang="en-US" sz="1700" dirty="0">
                <a:latin typeface="Calibri"/>
                <a:ea typeface="Calibri"/>
                <a:cs typeface="Calibri"/>
              </a:rPr>
              <a:t>Navigation is one of the most challenging competencies required for mobile robots.</a:t>
            </a:r>
          </a:p>
          <a:p>
            <a:endParaRPr lang="en-US" dirty="0"/>
          </a:p>
          <a:p>
            <a:pPr>
              <a:buChar char="•"/>
            </a:pPr>
            <a:r>
              <a:rPr lang="en-US" sz="1700" dirty="0">
                <a:latin typeface="Calibri"/>
                <a:ea typeface="Calibri"/>
                <a:cs typeface="Calibri"/>
              </a:rPr>
              <a:t>Existing navigation approaches use high-level sensors which are cost-demanding, such as:</a:t>
            </a:r>
          </a:p>
          <a:p>
            <a:pPr marL="285750" lvl="1" indent="-285750">
              <a:buFont typeface="Wingdings"/>
              <a:buChar char="v"/>
            </a:pPr>
            <a:r>
              <a:rPr lang="en-US" sz="1700" dirty="0">
                <a:latin typeface="Calibri"/>
                <a:ea typeface="Calibri"/>
                <a:cs typeface="Calibri"/>
              </a:rPr>
              <a:t>GPS </a:t>
            </a:r>
          </a:p>
          <a:p>
            <a:pPr marL="285750" lvl="1" indent="-285750">
              <a:buFont typeface="Wingdings"/>
              <a:buChar char="v"/>
            </a:pPr>
            <a:r>
              <a:rPr lang="en-US" sz="1700" dirty="0">
                <a:latin typeface="Calibri"/>
                <a:ea typeface="Calibri"/>
                <a:cs typeface="Calibri"/>
              </a:rPr>
              <a:t>high-level cameras.</a:t>
            </a:r>
          </a:p>
        </p:txBody>
      </p:sp>
      <p:sp>
        <p:nvSpPr>
          <p:cNvPr id="7" name="Rectangle 6">
            <a:extLst>
              <a:ext uri="{FF2B5EF4-FFF2-40B4-BE49-F238E27FC236}">
                <a16:creationId xmlns:a16="http://schemas.microsoft.com/office/drawing/2014/main" id="{3C706ADC-76DB-0974-414A-1CA52A9DC7FC}"/>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9" name="TextBox 8">
            <a:extLst>
              <a:ext uri="{FF2B5EF4-FFF2-40B4-BE49-F238E27FC236}">
                <a16:creationId xmlns:a16="http://schemas.microsoft.com/office/drawing/2014/main" id="{EFE9211C-AA26-140D-9F28-67D0D43EC96B}"/>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2169684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20B1F-6C5A-571A-2147-28A2CD017B1A}"/>
              </a:ext>
            </a:extLst>
          </p:cNvPr>
          <p:cNvSpPr>
            <a:spLocks noGrp="1"/>
          </p:cNvSpPr>
          <p:nvPr>
            <p:ph type="title"/>
          </p:nvPr>
        </p:nvSpPr>
        <p:spPr/>
        <p:txBody>
          <a:bodyPr/>
          <a:lstStyle/>
          <a:p>
            <a:r>
              <a:rPr lang="en-US"/>
              <a:t>Challenges</a:t>
            </a:r>
          </a:p>
        </p:txBody>
      </p:sp>
      <p:sp>
        <p:nvSpPr>
          <p:cNvPr id="5" name="TextBox 4">
            <a:extLst>
              <a:ext uri="{FF2B5EF4-FFF2-40B4-BE49-F238E27FC236}">
                <a16:creationId xmlns:a16="http://schemas.microsoft.com/office/drawing/2014/main" id="{16E9350D-1BD5-3CB4-4C2A-F5C5EBC52C0F}"/>
              </a:ext>
            </a:extLst>
          </p:cNvPr>
          <p:cNvSpPr txBox="1"/>
          <p:nvPr/>
        </p:nvSpPr>
        <p:spPr>
          <a:xfrm>
            <a:off x="262380" y="1129498"/>
            <a:ext cx="8446416" cy="22621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sz="1700">
                <a:latin typeface="Calibri"/>
                <a:ea typeface="Calibri"/>
                <a:cs typeface="Calibri"/>
              </a:rPr>
              <a:t>Tracking</a:t>
            </a:r>
          </a:p>
          <a:p>
            <a:endParaRPr lang="en-US"/>
          </a:p>
          <a:p>
            <a:pPr>
              <a:buChar char="•"/>
            </a:pPr>
            <a:r>
              <a:rPr lang="en-US" sz="1700">
                <a:latin typeface="Calibri"/>
                <a:ea typeface="Calibri"/>
                <a:cs typeface="Calibri"/>
              </a:rPr>
              <a:t>Latency</a:t>
            </a:r>
          </a:p>
          <a:p>
            <a:endParaRPr lang="en-US"/>
          </a:p>
          <a:p>
            <a:pPr>
              <a:buChar char="•"/>
            </a:pPr>
            <a:r>
              <a:rPr lang="en-US" sz="1700">
                <a:latin typeface="Calibri"/>
                <a:ea typeface="Calibri"/>
                <a:cs typeface="Calibri"/>
              </a:rPr>
              <a:t>Robustness</a:t>
            </a:r>
          </a:p>
          <a:p>
            <a:endParaRPr lang="en-US"/>
          </a:p>
          <a:p>
            <a:pPr>
              <a:buChar char="•"/>
            </a:pPr>
            <a:r>
              <a:rPr lang="en-US" sz="1700">
                <a:latin typeface="Calibri"/>
                <a:ea typeface="Calibri"/>
                <a:cs typeface="Calibri"/>
              </a:rPr>
              <a:t>Interoperability</a:t>
            </a:r>
          </a:p>
          <a:p>
            <a:endParaRPr lang="en-US"/>
          </a:p>
          <a:p>
            <a:pPr>
              <a:buChar char="•"/>
            </a:pPr>
            <a:r>
              <a:rPr lang="en-US" sz="1700">
                <a:latin typeface="Calibri"/>
                <a:ea typeface="Calibri"/>
                <a:cs typeface="Calibri"/>
              </a:rPr>
              <a:t>Calibration</a:t>
            </a:r>
          </a:p>
        </p:txBody>
      </p:sp>
      <p:sp>
        <p:nvSpPr>
          <p:cNvPr id="7" name="Rectangle 6">
            <a:extLst>
              <a:ext uri="{FF2B5EF4-FFF2-40B4-BE49-F238E27FC236}">
                <a16:creationId xmlns:a16="http://schemas.microsoft.com/office/drawing/2014/main" id="{7FA2B46E-D5B0-CDE0-99FF-CA9D86094E18}"/>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9" name="TextBox 8">
            <a:extLst>
              <a:ext uri="{FF2B5EF4-FFF2-40B4-BE49-F238E27FC236}">
                <a16:creationId xmlns:a16="http://schemas.microsoft.com/office/drawing/2014/main" id="{40EB6E76-8E6F-181D-EEB5-8F3F1C1B07A2}"/>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3341282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F2BBD-9E54-4E2E-C999-48F2F5956FFD}"/>
              </a:ext>
            </a:extLst>
          </p:cNvPr>
          <p:cNvSpPr>
            <a:spLocks noGrp="1"/>
          </p:cNvSpPr>
          <p:nvPr>
            <p:ph type="title"/>
          </p:nvPr>
        </p:nvSpPr>
        <p:spPr/>
        <p:txBody>
          <a:bodyPr/>
          <a:lstStyle/>
          <a:p>
            <a:r>
              <a:rPr lang="en-US"/>
              <a:t>Proposed Solution</a:t>
            </a:r>
          </a:p>
        </p:txBody>
      </p:sp>
      <p:sp>
        <p:nvSpPr>
          <p:cNvPr id="5" name="TextBox 4">
            <a:extLst>
              <a:ext uri="{FF2B5EF4-FFF2-40B4-BE49-F238E27FC236}">
                <a16:creationId xmlns:a16="http://schemas.microsoft.com/office/drawing/2014/main" id="{885DA8B7-1E96-BB47-77D5-EBB9C83C9303}"/>
              </a:ext>
            </a:extLst>
          </p:cNvPr>
          <p:cNvSpPr txBox="1"/>
          <p:nvPr/>
        </p:nvSpPr>
        <p:spPr>
          <a:xfrm>
            <a:off x="293802" y="1467059"/>
            <a:ext cx="8344292" cy="22698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buChar char="•"/>
            </a:pPr>
            <a:r>
              <a:rPr lang="en-US" sz="1700" dirty="0">
                <a:latin typeface="Calibri"/>
                <a:ea typeface="Calibri"/>
                <a:cs typeface="Calibri"/>
              </a:rPr>
              <a:t>Low-cost cameras and robots is used.</a:t>
            </a:r>
            <a:endParaRPr lang="en-US" dirty="0"/>
          </a:p>
          <a:p>
            <a:pPr>
              <a:lnSpc>
                <a:spcPct val="150000"/>
              </a:lnSpc>
              <a:buChar char="•"/>
            </a:pPr>
            <a:r>
              <a:rPr lang="en-US" sz="1700" dirty="0">
                <a:latin typeface="Calibri"/>
                <a:ea typeface="Calibri"/>
                <a:cs typeface="Calibri"/>
              </a:rPr>
              <a:t>Raspberry Pi 3A Microprocessor </a:t>
            </a:r>
          </a:p>
          <a:p>
            <a:pPr>
              <a:lnSpc>
                <a:spcPct val="150000"/>
              </a:lnSpc>
              <a:buChar char="•"/>
            </a:pPr>
            <a:r>
              <a:rPr lang="en-US" sz="1700" dirty="0">
                <a:latin typeface="Calibri"/>
                <a:ea typeface="Calibri"/>
                <a:cs typeface="Calibri"/>
              </a:rPr>
              <a:t>Raspberry Pi Camera </a:t>
            </a:r>
          </a:p>
          <a:p>
            <a:pPr>
              <a:lnSpc>
                <a:spcPct val="150000"/>
              </a:lnSpc>
              <a:buChar char="•"/>
            </a:pPr>
            <a:r>
              <a:rPr lang="en-US" sz="1700" dirty="0" err="1">
                <a:latin typeface="Calibri"/>
                <a:ea typeface="Calibri"/>
                <a:cs typeface="Calibri"/>
              </a:rPr>
              <a:t>Petoi</a:t>
            </a:r>
            <a:r>
              <a:rPr lang="en-US" sz="1700" dirty="0">
                <a:latin typeface="Calibri"/>
                <a:ea typeface="Calibri"/>
                <a:cs typeface="Calibri"/>
              </a:rPr>
              <a:t> Dog Open Source Programmable Quadruped Robot </a:t>
            </a:r>
          </a:p>
          <a:p>
            <a:pPr>
              <a:lnSpc>
                <a:spcPct val="150000"/>
              </a:lnSpc>
              <a:buChar char="•"/>
            </a:pPr>
            <a:r>
              <a:rPr lang="en-US" sz="1700" dirty="0" err="1">
                <a:latin typeface="Calibri"/>
                <a:ea typeface="Calibri"/>
                <a:cs typeface="Calibri"/>
              </a:rPr>
              <a:t>NyBoard</a:t>
            </a:r>
            <a:r>
              <a:rPr lang="en-US" sz="1700" dirty="0">
                <a:latin typeface="Calibri"/>
                <a:ea typeface="Calibri"/>
                <a:cs typeface="Calibri"/>
              </a:rPr>
              <a:t> V1</a:t>
            </a:r>
          </a:p>
          <a:p>
            <a:endParaRPr lang="en-US" dirty="0"/>
          </a:p>
        </p:txBody>
      </p:sp>
      <p:pic>
        <p:nvPicPr>
          <p:cNvPr id="6" name="Picture 6" descr="Graphical user interface&#10;&#10;Description automatically generated">
            <a:extLst>
              <a:ext uri="{FF2B5EF4-FFF2-40B4-BE49-F238E27FC236}">
                <a16:creationId xmlns:a16="http://schemas.microsoft.com/office/drawing/2014/main" id="{1FC07751-8845-FB0B-C67B-26A30034A794}"/>
              </a:ext>
            </a:extLst>
          </p:cNvPr>
          <p:cNvPicPr>
            <a:picLocks noChangeAspect="1"/>
          </p:cNvPicPr>
          <p:nvPr/>
        </p:nvPicPr>
        <p:blipFill>
          <a:blip r:embed="rId2"/>
          <a:stretch>
            <a:fillRect/>
          </a:stretch>
        </p:blipFill>
        <p:spPr>
          <a:xfrm>
            <a:off x="6362359" y="973067"/>
            <a:ext cx="2381735" cy="2638425"/>
          </a:xfrm>
          <a:prstGeom prst="rect">
            <a:avLst/>
          </a:prstGeom>
        </p:spPr>
      </p:pic>
      <p:sp>
        <p:nvSpPr>
          <p:cNvPr id="7" name="TextBox 6">
            <a:extLst>
              <a:ext uri="{FF2B5EF4-FFF2-40B4-BE49-F238E27FC236}">
                <a16:creationId xmlns:a16="http://schemas.microsoft.com/office/drawing/2014/main" id="{E26135D8-8803-E947-8E2D-87D02DB1BADC}"/>
              </a:ext>
            </a:extLst>
          </p:cNvPr>
          <p:cNvSpPr txBox="1"/>
          <p:nvPr/>
        </p:nvSpPr>
        <p:spPr>
          <a:xfrm>
            <a:off x="6452647" y="3712238"/>
            <a:ext cx="24289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Construction Robotics Seminar 2: Hardware and Prof. Dr. </a:t>
            </a:r>
            <a:r>
              <a:rPr lang="en-US" sz="1000" err="1"/>
              <a:t>softwareIng</a:t>
            </a:r>
            <a:r>
              <a:rPr lang="en-US" sz="1000"/>
              <a:t>. Kay specific </a:t>
            </a:r>
            <a:r>
              <a:rPr lang="en-US" sz="1000" err="1"/>
              <a:t>Smarsly</a:t>
            </a:r>
            <a:r>
              <a:rPr lang="en-US" sz="1000"/>
              <a:t> , </a:t>
            </a:r>
            <a:r>
              <a:rPr lang="en-US" sz="1000" err="1"/>
              <a:t>basicsJan</a:t>
            </a:r>
            <a:r>
              <a:rPr lang="en-US" sz="1000"/>
              <a:t> </a:t>
            </a:r>
            <a:r>
              <a:rPr lang="en-US" sz="1000" err="1"/>
              <a:t>Stührenberg</a:t>
            </a:r>
            <a:r>
              <a:rPr lang="en-US" sz="1000"/>
              <a:t>, M.Sc. Lecture’s slides</a:t>
            </a:r>
            <a:endParaRPr lang="en-US"/>
          </a:p>
        </p:txBody>
      </p:sp>
      <p:sp>
        <p:nvSpPr>
          <p:cNvPr id="9" name="Rectangle 8">
            <a:extLst>
              <a:ext uri="{FF2B5EF4-FFF2-40B4-BE49-F238E27FC236}">
                <a16:creationId xmlns:a16="http://schemas.microsoft.com/office/drawing/2014/main" id="{A0690853-E387-64F9-7FD7-BF300DBD7864}"/>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11" name="TextBox 10">
            <a:extLst>
              <a:ext uri="{FF2B5EF4-FFF2-40B4-BE49-F238E27FC236}">
                <a16:creationId xmlns:a16="http://schemas.microsoft.com/office/drawing/2014/main" id="{967CD810-59E8-84DA-C830-77986FAA6F4E}"/>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2940505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1AFFF9A-16CE-2B3C-5711-349E2854C73D}"/>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8" name="TextBox 7">
            <a:extLst>
              <a:ext uri="{FF2B5EF4-FFF2-40B4-BE49-F238E27FC236}">
                <a16:creationId xmlns:a16="http://schemas.microsoft.com/office/drawing/2014/main" id="{FA59BB88-A5C6-FAD7-EB02-5A5AA6D48D68}"/>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cxnSp>
        <p:nvCxnSpPr>
          <p:cNvPr id="10" name="Straight Connector 9">
            <a:extLst>
              <a:ext uri="{FF2B5EF4-FFF2-40B4-BE49-F238E27FC236}">
                <a16:creationId xmlns:a16="http://schemas.microsoft.com/office/drawing/2014/main" id="{CE4140C5-5E51-6407-1C63-08FA4167B219}"/>
              </a:ext>
            </a:extLst>
          </p:cNvPr>
          <p:cNvCxnSpPr>
            <a:cxnSpLocks/>
          </p:cNvCxnSpPr>
          <p:nvPr/>
        </p:nvCxnSpPr>
        <p:spPr>
          <a:xfrm>
            <a:off x="2069917" y="2813960"/>
            <a:ext cx="876395"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C5E8804-737A-C9A1-8426-A74896866C48}"/>
              </a:ext>
            </a:extLst>
          </p:cNvPr>
          <p:cNvCxnSpPr>
            <a:cxnSpLocks/>
          </p:cNvCxnSpPr>
          <p:nvPr/>
        </p:nvCxnSpPr>
        <p:spPr>
          <a:xfrm flipH="1">
            <a:off x="6616494" y="2813960"/>
            <a:ext cx="820786"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BD2A9-EBB6-233B-C7C0-75F2A792A41A}"/>
              </a:ext>
            </a:extLst>
          </p:cNvPr>
          <p:cNvCxnSpPr>
            <a:cxnSpLocks/>
          </p:cNvCxnSpPr>
          <p:nvPr/>
        </p:nvCxnSpPr>
        <p:spPr>
          <a:xfrm>
            <a:off x="5132852" y="2813960"/>
            <a:ext cx="789644"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D1B9333-488B-FFCF-DF91-993FC4FDFEDD}"/>
              </a:ext>
            </a:extLst>
          </p:cNvPr>
          <p:cNvCxnSpPr>
            <a:cxnSpLocks/>
          </p:cNvCxnSpPr>
          <p:nvPr/>
        </p:nvCxnSpPr>
        <p:spPr>
          <a:xfrm flipH="1">
            <a:off x="3606945" y="2813960"/>
            <a:ext cx="814113"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1">
            <a:extLst>
              <a:ext uri="{FF2B5EF4-FFF2-40B4-BE49-F238E27FC236}">
                <a16:creationId xmlns:a16="http://schemas.microsoft.com/office/drawing/2014/main" id="{0F4F4019-4462-0980-0D2A-1343FEF92C46}"/>
              </a:ext>
            </a:extLst>
          </p:cNvPr>
          <p:cNvSpPr txBox="1"/>
          <p:nvPr/>
        </p:nvSpPr>
        <p:spPr>
          <a:xfrm>
            <a:off x="1935943" y="3997618"/>
            <a:ext cx="2944671" cy="392415"/>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2100" b="1" err="1">
                <a:solidFill>
                  <a:schemeClr val="accent6">
                    <a:lumMod val="75000"/>
                  </a:schemeClr>
                </a:solidFill>
                <a:ea typeface="맑은 고딕"/>
                <a:cs typeface="Arial"/>
              </a:rPr>
              <a:t>AprilTag</a:t>
            </a:r>
            <a:r>
              <a:rPr lang="en-US" altLang="ko-KR" sz="2100" b="1">
                <a:solidFill>
                  <a:schemeClr val="accent6">
                    <a:lumMod val="75000"/>
                  </a:schemeClr>
                </a:solidFill>
                <a:ea typeface="맑은 고딕"/>
                <a:cs typeface="Arial"/>
              </a:rPr>
              <a:t> Detection</a:t>
            </a:r>
            <a:endParaRPr lang="en-US">
              <a:solidFill>
                <a:schemeClr val="accent6">
                  <a:lumMod val="75000"/>
                </a:schemeClr>
              </a:solidFill>
            </a:endParaRPr>
          </a:p>
        </p:txBody>
      </p:sp>
      <p:sp>
        <p:nvSpPr>
          <p:cNvPr id="20" name="TextBox 17">
            <a:extLst>
              <a:ext uri="{FF2B5EF4-FFF2-40B4-BE49-F238E27FC236}">
                <a16:creationId xmlns:a16="http://schemas.microsoft.com/office/drawing/2014/main" id="{1F2ABB2B-F1F9-BB81-7DB3-89C6E1680C7B}"/>
              </a:ext>
            </a:extLst>
          </p:cNvPr>
          <p:cNvSpPr txBox="1"/>
          <p:nvPr/>
        </p:nvSpPr>
        <p:spPr>
          <a:xfrm>
            <a:off x="5669924" y="4085865"/>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a:solidFill>
                  <a:srgbClr val="0070C0"/>
                </a:solidFill>
                <a:ea typeface="+mn-lt"/>
                <a:cs typeface="+mn-lt"/>
              </a:rPr>
              <a:t>Simulation &amp; ROS</a:t>
            </a:r>
            <a:endParaRPr lang="en-US">
              <a:ea typeface="+mn-lt"/>
              <a:cs typeface="+mn-lt"/>
            </a:endParaRPr>
          </a:p>
        </p:txBody>
      </p:sp>
      <p:sp>
        <p:nvSpPr>
          <p:cNvPr id="22" name="TextBox 20">
            <a:extLst>
              <a:ext uri="{FF2B5EF4-FFF2-40B4-BE49-F238E27FC236}">
                <a16:creationId xmlns:a16="http://schemas.microsoft.com/office/drawing/2014/main" id="{616E36D2-1C69-B72E-9CEA-C7C65DFF9340}"/>
              </a:ext>
            </a:extLst>
          </p:cNvPr>
          <p:cNvSpPr txBox="1"/>
          <p:nvPr/>
        </p:nvSpPr>
        <p:spPr>
          <a:xfrm>
            <a:off x="4016143" y="3124051"/>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err="1">
                <a:solidFill>
                  <a:srgbClr val="0070C0"/>
                </a:solidFill>
                <a:ea typeface="+mn-lt"/>
                <a:cs typeface="+mn-lt"/>
              </a:rPr>
              <a:t>Mldog</a:t>
            </a:r>
            <a:r>
              <a:rPr lang="en-US" sz="1500" b="1">
                <a:solidFill>
                  <a:srgbClr val="0070C0"/>
                </a:solidFill>
                <a:ea typeface="+mn-lt"/>
                <a:cs typeface="+mn-lt"/>
              </a:rPr>
              <a:t>-Control</a:t>
            </a:r>
            <a:endParaRPr lang="en-US" sz="1500">
              <a:ea typeface="+mn-lt"/>
              <a:cs typeface="+mn-lt"/>
            </a:endParaRPr>
          </a:p>
        </p:txBody>
      </p:sp>
      <p:sp>
        <p:nvSpPr>
          <p:cNvPr id="24" name="TextBox 23">
            <a:extLst>
              <a:ext uri="{FF2B5EF4-FFF2-40B4-BE49-F238E27FC236}">
                <a16:creationId xmlns:a16="http://schemas.microsoft.com/office/drawing/2014/main" id="{A973F2FD-C8C9-CBCC-FD46-FED7673B86CB}"/>
              </a:ext>
            </a:extLst>
          </p:cNvPr>
          <p:cNvSpPr txBox="1"/>
          <p:nvPr/>
        </p:nvSpPr>
        <p:spPr>
          <a:xfrm>
            <a:off x="7051117" y="3051618"/>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a:solidFill>
                  <a:srgbClr val="0070C0"/>
                </a:solidFill>
                <a:ea typeface="+mn-lt"/>
                <a:cs typeface="+mn-lt"/>
              </a:rPr>
              <a:t>Results</a:t>
            </a:r>
            <a:endParaRPr lang="en-US"/>
          </a:p>
        </p:txBody>
      </p:sp>
      <p:sp>
        <p:nvSpPr>
          <p:cNvPr id="26" name="Frame 5">
            <a:extLst>
              <a:ext uri="{FF2B5EF4-FFF2-40B4-BE49-F238E27FC236}">
                <a16:creationId xmlns:a16="http://schemas.microsoft.com/office/drawing/2014/main" id="{758CB2D1-715E-4072-D23D-928809E48E18}"/>
              </a:ext>
            </a:extLst>
          </p:cNvPr>
          <p:cNvSpPr/>
          <p:nvPr/>
        </p:nvSpPr>
        <p:spPr>
          <a:xfrm flipH="1" flipV="1">
            <a:off x="4337151" y="2043971"/>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30" name="Group 29">
            <a:extLst>
              <a:ext uri="{FF2B5EF4-FFF2-40B4-BE49-F238E27FC236}">
                <a16:creationId xmlns:a16="http://schemas.microsoft.com/office/drawing/2014/main" id="{415734D8-54EA-5E00-1E6E-76583AA19DD5}"/>
              </a:ext>
            </a:extLst>
          </p:cNvPr>
          <p:cNvGrpSpPr/>
          <p:nvPr/>
        </p:nvGrpSpPr>
        <p:grpSpPr>
          <a:xfrm>
            <a:off x="4334618" y="1384884"/>
            <a:ext cx="927922" cy="927922"/>
            <a:chOff x="3472880" y="3030096"/>
            <a:chExt cx="1476444" cy="1476444"/>
          </a:xfrm>
          <a:effectLst>
            <a:outerShdw blurRad="63500" sx="102000" sy="102000" algn="ctr" rotWithShape="0">
              <a:prstClr val="black">
                <a:alpha val="40000"/>
              </a:prstClr>
            </a:outerShdw>
          </a:effectLst>
        </p:grpSpPr>
        <p:sp>
          <p:nvSpPr>
            <p:cNvPr id="28" name="Teardrop 14">
              <a:extLst>
                <a:ext uri="{FF2B5EF4-FFF2-40B4-BE49-F238E27FC236}">
                  <a16:creationId xmlns:a16="http://schemas.microsoft.com/office/drawing/2014/main" id="{FED8797F-3348-DDF9-7540-F5ABDD3A8A9F}"/>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29" name="Oval 28">
              <a:extLst>
                <a:ext uri="{FF2B5EF4-FFF2-40B4-BE49-F238E27FC236}">
                  <a16:creationId xmlns:a16="http://schemas.microsoft.com/office/drawing/2014/main" id="{1674C4DC-1688-C991-2339-B5AD7FA89DF8}"/>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32" name="Frame 5">
            <a:extLst>
              <a:ext uri="{FF2B5EF4-FFF2-40B4-BE49-F238E27FC236}">
                <a16:creationId xmlns:a16="http://schemas.microsoft.com/office/drawing/2014/main" id="{567CCD08-662D-FC5E-A0A1-F3E7B499A84F}"/>
              </a:ext>
            </a:extLst>
          </p:cNvPr>
          <p:cNvSpPr/>
          <p:nvPr/>
        </p:nvSpPr>
        <p:spPr>
          <a:xfrm flipH="1" flipV="1">
            <a:off x="5947183" y="2941164"/>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36" name="Group 35">
            <a:extLst>
              <a:ext uri="{FF2B5EF4-FFF2-40B4-BE49-F238E27FC236}">
                <a16:creationId xmlns:a16="http://schemas.microsoft.com/office/drawing/2014/main" id="{BA84221F-F821-349A-AA09-FEA2C5F7E1BB}"/>
              </a:ext>
            </a:extLst>
          </p:cNvPr>
          <p:cNvGrpSpPr/>
          <p:nvPr/>
        </p:nvGrpSpPr>
        <p:grpSpPr>
          <a:xfrm>
            <a:off x="5944650" y="2282077"/>
            <a:ext cx="927922" cy="927922"/>
            <a:chOff x="3472880" y="3030096"/>
            <a:chExt cx="1476444" cy="1476444"/>
          </a:xfrm>
          <a:effectLst>
            <a:outerShdw blurRad="63500" sx="102000" sy="102000" algn="ctr" rotWithShape="0">
              <a:prstClr val="black">
                <a:alpha val="40000"/>
              </a:prstClr>
            </a:outerShdw>
          </a:effectLst>
        </p:grpSpPr>
        <p:sp>
          <p:nvSpPr>
            <p:cNvPr id="34" name="Teardrop 14">
              <a:extLst>
                <a:ext uri="{FF2B5EF4-FFF2-40B4-BE49-F238E27FC236}">
                  <a16:creationId xmlns:a16="http://schemas.microsoft.com/office/drawing/2014/main" id="{3DD7D871-F557-58B8-2319-5E9F9766D108}"/>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35" name="Oval 34">
              <a:extLst>
                <a:ext uri="{FF2B5EF4-FFF2-40B4-BE49-F238E27FC236}">
                  <a16:creationId xmlns:a16="http://schemas.microsoft.com/office/drawing/2014/main" id="{40D75287-58AB-858F-B3EE-525953428DA6}"/>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38" name="Frame 5">
            <a:extLst>
              <a:ext uri="{FF2B5EF4-FFF2-40B4-BE49-F238E27FC236}">
                <a16:creationId xmlns:a16="http://schemas.microsoft.com/office/drawing/2014/main" id="{4BAD9A03-EE75-3A82-4260-BB4626C0CE20}"/>
              </a:ext>
            </a:extLst>
          </p:cNvPr>
          <p:cNvSpPr/>
          <p:nvPr/>
        </p:nvSpPr>
        <p:spPr>
          <a:xfrm flipH="1" flipV="1">
            <a:off x="7323699" y="2025535"/>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42" name="Group 41">
            <a:extLst>
              <a:ext uri="{FF2B5EF4-FFF2-40B4-BE49-F238E27FC236}">
                <a16:creationId xmlns:a16="http://schemas.microsoft.com/office/drawing/2014/main" id="{FBC8E3CC-2851-F3F8-B0D5-DC01D9396D55}"/>
              </a:ext>
            </a:extLst>
          </p:cNvPr>
          <p:cNvGrpSpPr/>
          <p:nvPr/>
        </p:nvGrpSpPr>
        <p:grpSpPr>
          <a:xfrm>
            <a:off x="7321166" y="1366448"/>
            <a:ext cx="927922" cy="927922"/>
            <a:chOff x="3472880" y="3030096"/>
            <a:chExt cx="1476444" cy="1476444"/>
          </a:xfrm>
          <a:effectLst>
            <a:outerShdw blurRad="63500" sx="102000" sy="102000" algn="ctr" rotWithShape="0">
              <a:prstClr val="black">
                <a:alpha val="40000"/>
              </a:prstClr>
            </a:outerShdw>
          </a:effectLst>
        </p:grpSpPr>
        <p:sp>
          <p:nvSpPr>
            <p:cNvPr id="40" name="Teardrop 14">
              <a:extLst>
                <a:ext uri="{FF2B5EF4-FFF2-40B4-BE49-F238E27FC236}">
                  <a16:creationId xmlns:a16="http://schemas.microsoft.com/office/drawing/2014/main" id="{5C9F337D-8CAA-99DD-6762-66A0F3DF6EA0}"/>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41" name="Oval 40">
              <a:extLst>
                <a:ext uri="{FF2B5EF4-FFF2-40B4-BE49-F238E27FC236}">
                  <a16:creationId xmlns:a16="http://schemas.microsoft.com/office/drawing/2014/main" id="{335CB498-2011-6608-2E5A-C70FBCFF2D68}"/>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44" name="TextBox 11">
            <a:extLst>
              <a:ext uri="{FF2B5EF4-FFF2-40B4-BE49-F238E27FC236}">
                <a16:creationId xmlns:a16="http://schemas.microsoft.com/office/drawing/2014/main" id="{7999A633-247B-8C0F-C529-4DCE0422432F}"/>
              </a:ext>
            </a:extLst>
          </p:cNvPr>
          <p:cNvSpPr txBox="1"/>
          <p:nvPr/>
        </p:nvSpPr>
        <p:spPr>
          <a:xfrm>
            <a:off x="606543" y="3118204"/>
            <a:ext cx="1867748"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a:solidFill>
                  <a:srgbClr val="0070C0"/>
                </a:solidFill>
                <a:ea typeface="맑은 고딕"/>
                <a:cs typeface="Arial"/>
              </a:rPr>
              <a:t>Problem Analysis</a:t>
            </a:r>
            <a:endParaRPr lang="en-US"/>
          </a:p>
        </p:txBody>
      </p:sp>
      <p:pic>
        <p:nvPicPr>
          <p:cNvPr id="46" name="Picture 96">
            <a:extLst>
              <a:ext uri="{FF2B5EF4-FFF2-40B4-BE49-F238E27FC236}">
                <a16:creationId xmlns:a16="http://schemas.microsoft.com/office/drawing/2014/main" id="{2728022A-85C8-BE9C-3126-6D6D66517175}"/>
              </a:ext>
            </a:extLst>
          </p:cNvPr>
          <p:cNvPicPr>
            <a:picLocks noChangeAspect="1"/>
          </p:cNvPicPr>
          <p:nvPr/>
        </p:nvPicPr>
        <p:blipFill>
          <a:blip r:embed="rId2"/>
          <a:stretch>
            <a:fillRect/>
          </a:stretch>
        </p:blipFill>
        <p:spPr>
          <a:xfrm>
            <a:off x="6266229" y="2473875"/>
            <a:ext cx="288317" cy="268725"/>
          </a:xfrm>
          <a:prstGeom prst="rect">
            <a:avLst/>
          </a:prstGeom>
        </p:spPr>
      </p:pic>
      <p:pic>
        <p:nvPicPr>
          <p:cNvPr id="48" name="Picture 74">
            <a:extLst>
              <a:ext uri="{FF2B5EF4-FFF2-40B4-BE49-F238E27FC236}">
                <a16:creationId xmlns:a16="http://schemas.microsoft.com/office/drawing/2014/main" id="{1B783B62-53FD-6899-5549-F3A8215B91A6}"/>
              </a:ext>
            </a:extLst>
          </p:cNvPr>
          <p:cNvPicPr>
            <a:picLocks noChangeAspect="1"/>
          </p:cNvPicPr>
          <p:nvPr/>
        </p:nvPicPr>
        <p:blipFill>
          <a:blip r:embed="rId3"/>
          <a:stretch>
            <a:fillRect/>
          </a:stretch>
        </p:blipFill>
        <p:spPr>
          <a:xfrm>
            <a:off x="4660061" y="1554187"/>
            <a:ext cx="255495" cy="295838"/>
          </a:xfrm>
          <a:prstGeom prst="rect">
            <a:avLst/>
          </a:prstGeom>
        </p:spPr>
      </p:pic>
      <p:pic>
        <p:nvPicPr>
          <p:cNvPr id="50" name="Picture 102">
            <a:extLst>
              <a:ext uri="{FF2B5EF4-FFF2-40B4-BE49-F238E27FC236}">
                <a16:creationId xmlns:a16="http://schemas.microsoft.com/office/drawing/2014/main" id="{15288CCE-6195-ADFA-6557-B04B46F13846}"/>
              </a:ext>
            </a:extLst>
          </p:cNvPr>
          <p:cNvPicPr>
            <a:picLocks noChangeAspect="1"/>
          </p:cNvPicPr>
          <p:nvPr/>
        </p:nvPicPr>
        <p:blipFill>
          <a:blip r:embed="rId4"/>
          <a:stretch>
            <a:fillRect/>
          </a:stretch>
        </p:blipFill>
        <p:spPr>
          <a:xfrm>
            <a:off x="7583620" y="1501848"/>
            <a:ext cx="407606" cy="407027"/>
          </a:xfrm>
          <a:prstGeom prst="rect">
            <a:avLst/>
          </a:prstGeom>
        </p:spPr>
      </p:pic>
      <p:sp>
        <p:nvSpPr>
          <p:cNvPr id="52" name="Frame 5">
            <a:extLst>
              <a:ext uri="{FF2B5EF4-FFF2-40B4-BE49-F238E27FC236}">
                <a16:creationId xmlns:a16="http://schemas.microsoft.com/office/drawing/2014/main" id="{21D46954-A524-8C35-19C6-740E017DD721}"/>
              </a:ext>
            </a:extLst>
          </p:cNvPr>
          <p:cNvSpPr/>
          <p:nvPr/>
        </p:nvSpPr>
        <p:spPr>
          <a:xfrm flipH="1" flipV="1">
            <a:off x="1223461" y="2022144"/>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56" name="Group 55">
            <a:extLst>
              <a:ext uri="{FF2B5EF4-FFF2-40B4-BE49-F238E27FC236}">
                <a16:creationId xmlns:a16="http://schemas.microsoft.com/office/drawing/2014/main" id="{E2678EDB-9F14-61B8-4929-9B196AA9DAF7}"/>
              </a:ext>
            </a:extLst>
          </p:cNvPr>
          <p:cNvGrpSpPr/>
          <p:nvPr/>
        </p:nvGrpSpPr>
        <p:grpSpPr>
          <a:xfrm>
            <a:off x="1220928" y="1363057"/>
            <a:ext cx="927922" cy="927922"/>
            <a:chOff x="3472880" y="3030096"/>
            <a:chExt cx="1476444" cy="1476444"/>
          </a:xfrm>
          <a:effectLst>
            <a:outerShdw blurRad="63500" sx="102000" sy="102000" algn="ctr" rotWithShape="0">
              <a:prstClr val="black">
                <a:alpha val="40000"/>
              </a:prstClr>
            </a:outerShdw>
          </a:effectLst>
        </p:grpSpPr>
        <p:sp>
          <p:nvSpPr>
            <p:cNvPr id="54" name="Teardrop 14">
              <a:extLst>
                <a:ext uri="{FF2B5EF4-FFF2-40B4-BE49-F238E27FC236}">
                  <a16:creationId xmlns:a16="http://schemas.microsoft.com/office/drawing/2014/main" id="{FDC4BC26-14CA-EA17-E795-E6BD45CE3ACF}"/>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55" name="Oval 54">
              <a:extLst>
                <a:ext uri="{FF2B5EF4-FFF2-40B4-BE49-F238E27FC236}">
                  <a16:creationId xmlns:a16="http://schemas.microsoft.com/office/drawing/2014/main" id="{6DEC3ED5-3973-7894-702E-C1E1EABEF525}"/>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58" name="Frame 4">
            <a:extLst>
              <a:ext uri="{FF2B5EF4-FFF2-40B4-BE49-F238E27FC236}">
                <a16:creationId xmlns:a16="http://schemas.microsoft.com/office/drawing/2014/main" id="{1F8D4D1D-AE85-11E9-1D84-0A342EC973B5}"/>
              </a:ext>
            </a:extLst>
          </p:cNvPr>
          <p:cNvSpPr/>
          <p:nvPr/>
        </p:nvSpPr>
        <p:spPr>
          <a:xfrm flipH="1" flipV="1">
            <a:off x="2823168" y="2949804"/>
            <a:ext cx="927922" cy="927921"/>
          </a:xfrm>
          <a:prstGeom prst="rect">
            <a:avLst/>
          </a:prstGeom>
          <a:solidFill>
            <a:schemeClr val="accent6"/>
          </a:solidFill>
          <a:ln>
            <a:noFill/>
          </a:ln>
          <a:scene3d>
            <a:camera prst="isometricOffAxis2Top">
              <a:rot lat="19200000" lon="3000000" rev="17820000"/>
            </a:camera>
            <a:lightRig rig="soft" dir="t"/>
          </a:scene3d>
          <a:sp3d extrusionH="260350" prstMaterial="plastic">
            <a:bevelT w="12700" h="38100"/>
            <a:extrusionClr>
              <a:schemeClr val="accent6"/>
            </a:extrusionClr>
            <a:contourClr>
              <a:schemeClr val="accent6"/>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62" name="Group 61">
            <a:extLst>
              <a:ext uri="{FF2B5EF4-FFF2-40B4-BE49-F238E27FC236}">
                <a16:creationId xmlns:a16="http://schemas.microsoft.com/office/drawing/2014/main" id="{06D24726-3AAD-9736-46CA-CC999C464C50}"/>
              </a:ext>
            </a:extLst>
          </p:cNvPr>
          <p:cNvGrpSpPr/>
          <p:nvPr/>
        </p:nvGrpSpPr>
        <p:grpSpPr>
          <a:xfrm>
            <a:off x="2817303" y="2294420"/>
            <a:ext cx="927922" cy="927922"/>
            <a:chOff x="1467313" y="1705637"/>
            <a:chExt cx="1476444" cy="1476444"/>
          </a:xfrm>
          <a:effectLst>
            <a:outerShdw blurRad="63500" sx="102000" sy="102000" algn="ctr" rotWithShape="0">
              <a:prstClr val="black">
                <a:alpha val="40000"/>
              </a:prstClr>
            </a:outerShdw>
          </a:effectLst>
        </p:grpSpPr>
        <p:sp>
          <p:nvSpPr>
            <p:cNvPr id="60" name="Teardrop 14">
              <a:extLst>
                <a:ext uri="{FF2B5EF4-FFF2-40B4-BE49-F238E27FC236}">
                  <a16:creationId xmlns:a16="http://schemas.microsoft.com/office/drawing/2014/main" id="{6F1592AC-1908-5AB2-5184-36DE6341B34E}"/>
                </a:ext>
              </a:extLst>
            </p:cNvPr>
            <p:cNvSpPr/>
            <p:nvPr/>
          </p:nvSpPr>
          <p:spPr>
            <a:xfrm rot="8100000">
              <a:off x="1467313" y="1705637"/>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61" name="Oval 60">
              <a:extLst>
                <a:ext uri="{FF2B5EF4-FFF2-40B4-BE49-F238E27FC236}">
                  <a16:creationId xmlns:a16="http://schemas.microsoft.com/office/drawing/2014/main" id="{C61E970D-A85B-B833-52FB-5057D0F8D912}"/>
                </a:ext>
              </a:extLst>
            </p:cNvPr>
            <p:cNvSpPr/>
            <p:nvPr/>
          </p:nvSpPr>
          <p:spPr>
            <a:xfrm>
              <a:off x="1698639" y="1757663"/>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pic>
        <p:nvPicPr>
          <p:cNvPr id="64" name="Picture 26">
            <a:extLst>
              <a:ext uri="{FF2B5EF4-FFF2-40B4-BE49-F238E27FC236}">
                <a16:creationId xmlns:a16="http://schemas.microsoft.com/office/drawing/2014/main" id="{70A4C559-807A-60C6-4956-1EC3ADD0076C}"/>
              </a:ext>
            </a:extLst>
          </p:cNvPr>
          <p:cNvPicPr>
            <a:picLocks noChangeAspect="1"/>
          </p:cNvPicPr>
          <p:nvPr/>
        </p:nvPicPr>
        <p:blipFill>
          <a:blip r:embed="rId5"/>
          <a:stretch>
            <a:fillRect/>
          </a:stretch>
        </p:blipFill>
        <p:spPr>
          <a:xfrm>
            <a:off x="1566649" y="1545679"/>
            <a:ext cx="328613" cy="314325"/>
          </a:xfrm>
          <a:prstGeom prst="rect">
            <a:avLst/>
          </a:prstGeom>
        </p:spPr>
      </p:pic>
      <p:pic>
        <p:nvPicPr>
          <p:cNvPr id="66" name="Picture 3">
            <a:extLst>
              <a:ext uri="{FF2B5EF4-FFF2-40B4-BE49-F238E27FC236}">
                <a16:creationId xmlns:a16="http://schemas.microsoft.com/office/drawing/2014/main" id="{B1AF8314-5815-1F24-900C-4C1F618356B0}"/>
              </a:ext>
            </a:extLst>
          </p:cNvPr>
          <p:cNvPicPr>
            <a:picLocks noChangeAspect="1"/>
          </p:cNvPicPr>
          <p:nvPr/>
        </p:nvPicPr>
        <p:blipFill>
          <a:blip r:embed="rId6"/>
          <a:stretch>
            <a:fillRect/>
          </a:stretch>
        </p:blipFill>
        <p:spPr>
          <a:xfrm>
            <a:off x="3097857" y="2477181"/>
            <a:ext cx="362199" cy="352425"/>
          </a:xfrm>
          <a:prstGeom prst="rect">
            <a:avLst/>
          </a:prstGeom>
        </p:spPr>
      </p:pic>
    </p:spTree>
    <p:extLst>
      <p:ext uri="{BB962C8B-B14F-4D97-AF65-F5344CB8AC3E}">
        <p14:creationId xmlns:p14="http://schemas.microsoft.com/office/powerpoint/2010/main" val="770370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1301-6EF3-F9EB-9088-C9F064EA154F}"/>
              </a:ext>
            </a:extLst>
          </p:cNvPr>
          <p:cNvSpPr>
            <a:spLocks noGrp="1"/>
          </p:cNvSpPr>
          <p:nvPr>
            <p:ph type="title"/>
          </p:nvPr>
        </p:nvSpPr>
        <p:spPr/>
        <p:txBody>
          <a:bodyPr/>
          <a:lstStyle/>
          <a:p>
            <a:r>
              <a:rPr lang="en-US" dirty="0"/>
              <a:t>Camera Calibration</a:t>
            </a:r>
          </a:p>
        </p:txBody>
      </p:sp>
      <p:sp>
        <p:nvSpPr>
          <p:cNvPr id="3" name="Text Placeholder 2">
            <a:extLst>
              <a:ext uri="{FF2B5EF4-FFF2-40B4-BE49-F238E27FC236}">
                <a16:creationId xmlns:a16="http://schemas.microsoft.com/office/drawing/2014/main" id="{EDB22CCF-ED65-C3D4-3B6F-990AA69EE47F}"/>
              </a:ext>
            </a:extLst>
          </p:cNvPr>
          <p:cNvSpPr>
            <a:spLocks noGrp="1"/>
          </p:cNvSpPr>
          <p:nvPr>
            <p:ph type="body" idx="1"/>
          </p:nvPr>
        </p:nvSpPr>
        <p:spPr/>
        <p:txBody>
          <a:bodyPr/>
          <a:lstStyle/>
          <a:p>
            <a:r>
              <a:rPr lang="en-US" dirty="0"/>
              <a:t>The importance of </a:t>
            </a:r>
            <a:r>
              <a:rPr lang="tr-TR" dirty="0"/>
              <a:t>camera </a:t>
            </a:r>
            <a:r>
              <a:rPr lang="en-US" dirty="0"/>
              <a:t>calibration</a:t>
            </a:r>
          </a:p>
        </p:txBody>
      </p:sp>
      <p:sp>
        <p:nvSpPr>
          <p:cNvPr id="4" name="Text Placeholder 3">
            <a:extLst>
              <a:ext uri="{FF2B5EF4-FFF2-40B4-BE49-F238E27FC236}">
                <a16:creationId xmlns:a16="http://schemas.microsoft.com/office/drawing/2014/main" id="{882502BD-3254-DA2E-BC71-7BB6443386F9}"/>
              </a:ext>
            </a:extLst>
          </p:cNvPr>
          <p:cNvSpPr>
            <a:spLocks noGrp="1"/>
          </p:cNvSpPr>
          <p:nvPr>
            <p:ph type="body" idx="2"/>
          </p:nvPr>
        </p:nvSpPr>
        <p:spPr/>
        <p:txBody>
          <a:bodyPr/>
          <a:lstStyle/>
          <a:p>
            <a:pPr>
              <a:lnSpc>
                <a:spcPct val="150000"/>
              </a:lnSpc>
            </a:pPr>
            <a:r>
              <a:rPr lang="tr-TR" dirty="0"/>
              <a:t>Coreccting lens distortion. </a:t>
            </a:r>
          </a:p>
          <a:p>
            <a:pPr>
              <a:lnSpc>
                <a:spcPct val="150000"/>
              </a:lnSpc>
            </a:pPr>
            <a:r>
              <a:rPr lang="tr-TR" dirty="0"/>
              <a:t>Finding the intrinsic and extrinsic parameters.</a:t>
            </a:r>
          </a:p>
          <a:p>
            <a:pPr>
              <a:lnSpc>
                <a:spcPct val="150000"/>
              </a:lnSpc>
            </a:pPr>
            <a:r>
              <a:rPr lang="tr-TR" dirty="0"/>
              <a:t>Matching image coordinate to real world coordinates. </a:t>
            </a:r>
            <a:endParaRPr lang="en-US" dirty="0"/>
          </a:p>
        </p:txBody>
      </p:sp>
      <p:pic>
        <p:nvPicPr>
          <p:cNvPr id="7" name="Graphic 6">
            <a:extLst>
              <a:ext uri="{FF2B5EF4-FFF2-40B4-BE49-F238E27FC236}">
                <a16:creationId xmlns:a16="http://schemas.microsoft.com/office/drawing/2014/main" id="{B5B1EED6-5458-41D4-A53B-FB2EC4E6019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46375" y="2968875"/>
            <a:ext cx="3905250" cy="2143125"/>
          </a:xfrm>
          <a:prstGeom prst="rect">
            <a:avLst/>
          </a:prstGeom>
        </p:spPr>
      </p:pic>
      <p:sp>
        <p:nvSpPr>
          <p:cNvPr id="9" name="TextBox 8">
            <a:extLst>
              <a:ext uri="{FF2B5EF4-FFF2-40B4-BE49-F238E27FC236}">
                <a16:creationId xmlns:a16="http://schemas.microsoft.com/office/drawing/2014/main" id="{EB5B0502-B653-58C2-9E62-94436B7742EC}"/>
              </a:ext>
            </a:extLst>
          </p:cNvPr>
          <p:cNvSpPr txBox="1"/>
          <p:nvPr/>
        </p:nvSpPr>
        <p:spPr>
          <a:xfrm>
            <a:off x="1256069" y="5181181"/>
            <a:ext cx="7135899"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chemeClr val="tx1"/>
                </a:solidFill>
              </a:rPr>
              <a:t>Group1 -  Robust Fiducial Markers Detection And Following Using Quadruped Robot</a:t>
            </a:r>
            <a:br>
              <a:rPr lang="en-US" sz="1000" dirty="0">
                <a:solidFill>
                  <a:schemeClr val="tx1"/>
                </a:solidFill>
              </a:rPr>
            </a:br>
            <a:r>
              <a:rPr lang="en-US" sz="1000" dirty="0">
                <a:solidFill>
                  <a:schemeClr val="tx1"/>
                </a:solidFill>
              </a:rPr>
              <a:t>Construction Robotics WS 2022/23 final presentation, February 6, 2023</a:t>
            </a:r>
          </a:p>
        </p:txBody>
      </p:sp>
    </p:spTree>
    <p:extLst>
      <p:ext uri="{BB962C8B-B14F-4D97-AF65-F5344CB8AC3E}">
        <p14:creationId xmlns:p14="http://schemas.microsoft.com/office/powerpoint/2010/main" val="3810179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D1B0B-A3C0-13C6-64A0-B833727A2E95}"/>
              </a:ext>
            </a:extLst>
          </p:cNvPr>
          <p:cNvSpPr>
            <a:spLocks noGrp="1"/>
          </p:cNvSpPr>
          <p:nvPr>
            <p:ph type="title"/>
          </p:nvPr>
        </p:nvSpPr>
        <p:spPr/>
        <p:txBody>
          <a:bodyPr/>
          <a:lstStyle/>
          <a:p>
            <a:r>
              <a:rPr lang="en-US" dirty="0"/>
              <a:t>Camera Calibration</a:t>
            </a:r>
          </a:p>
        </p:txBody>
      </p:sp>
      <p:sp>
        <p:nvSpPr>
          <p:cNvPr id="6" name="Rectangle 5">
            <a:extLst>
              <a:ext uri="{FF2B5EF4-FFF2-40B4-BE49-F238E27FC236}">
                <a16:creationId xmlns:a16="http://schemas.microsoft.com/office/drawing/2014/main" id="{E964A0DE-3A6A-7640-1E9C-1192C2026C58}"/>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8" name="TextBox 7">
            <a:extLst>
              <a:ext uri="{FF2B5EF4-FFF2-40B4-BE49-F238E27FC236}">
                <a16:creationId xmlns:a16="http://schemas.microsoft.com/office/drawing/2014/main" id="{A510E3F3-1BA7-A613-4CA2-7173D13A1EB7}"/>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chemeClr val="tx1"/>
                </a:solidFill>
              </a:rPr>
              <a:t>Group1 -  Robust Fiducial Markers Detection And Following Using Quadruped Robot</a:t>
            </a:r>
            <a:br>
              <a:rPr lang="en-US" sz="1000" dirty="0">
                <a:solidFill>
                  <a:schemeClr val="tx1"/>
                </a:solidFill>
              </a:rPr>
            </a:br>
            <a:r>
              <a:rPr lang="en-US" sz="1000" dirty="0">
                <a:solidFill>
                  <a:schemeClr val="tx1"/>
                </a:solidFill>
              </a:rPr>
              <a:t>Construction Robotics WS 2022/23 final presentation, February 6, 2023</a:t>
            </a:r>
          </a:p>
        </p:txBody>
      </p:sp>
      <p:sp>
        <p:nvSpPr>
          <p:cNvPr id="4" name="Text Placeholder 2">
            <a:extLst>
              <a:ext uri="{FF2B5EF4-FFF2-40B4-BE49-F238E27FC236}">
                <a16:creationId xmlns:a16="http://schemas.microsoft.com/office/drawing/2014/main" id="{91DC1CE4-4549-14E8-13F2-D8B8C8336FA5}"/>
              </a:ext>
            </a:extLst>
          </p:cNvPr>
          <p:cNvSpPr>
            <a:spLocks noGrp="1"/>
          </p:cNvSpPr>
          <p:nvPr>
            <p:ph type="body" idx="1"/>
          </p:nvPr>
        </p:nvSpPr>
        <p:spPr>
          <a:xfrm>
            <a:off x="284400" y="975600"/>
            <a:ext cx="8629200" cy="277200"/>
          </a:xfrm>
        </p:spPr>
        <p:txBody>
          <a:bodyPr/>
          <a:lstStyle/>
          <a:p>
            <a:r>
              <a:rPr lang="tr-TR" dirty="0"/>
              <a:t>Chessboard Calibration Method </a:t>
            </a:r>
            <a:endParaRPr lang="en-US" dirty="0"/>
          </a:p>
        </p:txBody>
      </p:sp>
      <p:sp>
        <p:nvSpPr>
          <p:cNvPr id="5" name="Text Placeholder 3">
            <a:extLst>
              <a:ext uri="{FF2B5EF4-FFF2-40B4-BE49-F238E27FC236}">
                <a16:creationId xmlns:a16="http://schemas.microsoft.com/office/drawing/2014/main" id="{555469EB-EEB3-94E3-5845-C25B0E398E16}"/>
              </a:ext>
            </a:extLst>
          </p:cNvPr>
          <p:cNvSpPr>
            <a:spLocks noGrp="1"/>
          </p:cNvSpPr>
          <p:nvPr>
            <p:ph type="body" idx="2"/>
          </p:nvPr>
        </p:nvSpPr>
        <p:spPr>
          <a:xfrm>
            <a:off x="284400" y="1440000"/>
            <a:ext cx="8629200" cy="3672000"/>
          </a:xfrm>
        </p:spPr>
        <p:txBody>
          <a:bodyPr/>
          <a:lstStyle/>
          <a:p>
            <a:pPr>
              <a:lnSpc>
                <a:spcPct val="150000"/>
              </a:lnSpc>
            </a:pPr>
            <a:r>
              <a:rPr lang="tr-TR" dirty="0"/>
              <a:t>Recognizable points even it is distorded.</a:t>
            </a:r>
          </a:p>
          <a:p>
            <a:pPr>
              <a:lnSpc>
                <a:spcPct val="150000"/>
              </a:lnSpc>
            </a:pPr>
            <a:r>
              <a:rPr lang="tr-TR" dirty="0"/>
              <a:t>Easy to create. </a:t>
            </a:r>
          </a:p>
          <a:p>
            <a:pPr>
              <a:lnSpc>
                <a:spcPct val="150000"/>
              </a:lnSpc>
            </a:pPr>
            <a:r>
              <a:rPr lang="tr-TR" dirty="0"/>
              <a:t>Finding corners of the checkerboard with </a:t>
            </a:r>
            <a:r>
              <a:rPr lang="en-US" b="0" i="0" u="none" strike="noStrike" dirty="0">
                <a:solidFill>
                  <a:srgbClr val="262626"/>
                </a:solidFill>
                <a:effectLst/>
                <a:latin typeface="Lato-ExtraBold"/>
              </a:rPr>
              <a:t>“</a:t>
            </a:r>
            <a:r>
              <a:rPr lang="tr-TR" i="1" dirty="0"/>
              <a:t>findChessboardCorners</a:t>
            </a:r>
            <a:r>
              <a:rPr lang="tr-TR" altLang="en-US" dirty="0">
                <a:solidFill>
                  <a:srgbClr val="262626"/>
                </a:solidFill>
                <a:latin typeface="Lato-ExtraBold"/>
              </a:rPr>
              <a:t>’’</a:t>
            </a:r>
            <a:r>
              <a:rPr lang="tr-TR" dirty="0"/>
              <a:t> function.</a:t>
            </a:r>
          </a:p>
          <a:p>
            <a:pPr>
              <a:lnSpc>
                <a:spcPct val="150000"/>
              </a:lnSpc>
            </a:pPr>
            <a:r>
              <a:rPr lang="tr-TR" dirty="0"/>
              <a:t>Finding calibration matrix with </a:t>
            </a:r>
            <a:r>
              <a:rPr lang="en-US" b="0" i="0" u="none" strike="noStrike" dirty="0">
                <a:solidFill>
                  <a:srgbClr val="262626"/>
                </a:solidFill>
                <a:effectLst/>
                <a:latin typeface="Lato-ExtraBold"/>
              </a:rPr>
              <a:t>“</a:t>
            </a:r>
            <a:r>
              <a:rPr lang="en-US" altLang="en-US" i="1" dirty="0" err="1"/>
              <a:t>calibrateCamera</a:t>
            </a:r>
            <a:r>
              <a:rPr lang="tr-TR" altLang="en-US" dirty="0">
                <a:solidFill>
                  <a:srgbClr val="262626"/>
                </a:solidFill>
                <a:latin typeface="Lato-ExtraBold"/>
              </a:rPr>
              <a:t>’’.</a:t>
            </a:r>
            <a:endParaRPr lang="en-US" i="1" dirty="0"/>
          </a:p>
        </p:txBody>
      </p:sp>
    </p:spTree>
    <p:extLst>
      <p:ext uri="{BB962C8B-B14F-4D97-AF65-F5344CB8AC3E}">
        <p14:creationId xmlns:p14="http://schemas.microsoft.com/office/powerpoint/2010/main" val="80110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56C6A-A278-A1D1-B334-34C8A700D895}"/>
              </a:ext>
            </a:extLst>
          </p:cNvPr>
          <p:cNvSpPr>
            <a:spLocks noGrp="1"/>
          </p:cNvSpPr>
          <p:nvPr>
            <p:ph type="title"/>
          </p:nvPr>
        </p:nvSpPr>
        <p:spPr/>
        <p:txBody>
          <a:bodyPr/>
          <a:lstStyle/>
          <a:p>
            <a:r>
              <a:rPr lang="en-US" dirty="0"/>
              <a:t>AprilTag Detection</a:t>
            </a:r>
          </a:p>
        </p:txBody>
      </p:sp>
      <p:sp>
        <p:nvSpPr>
          <p:cNvPr id="5" name="TextBox 4">
            <a:extLst>
              <a:ext uri="{FF2B5EF4-FFF2-40B4-BE49-F238E27FC236}">
                <a16:creationId xmlns:a16="http://schemas.microsoft.com/office/drawing/2014/main" id="{91D02981-063A-97E8-47ED-F4E7E06BA672}"/>
              </a:ext>
            </a:extLst>
          </p:cNvPr>
          <p:cNvSpPr txBox="1"/>
          <p:nvPr/>
        </p:nvSpPr>
        <p:spPr>
          <a:xfrm>
            <a:off x="403781" y="1294354"/>
            <a:ext cx="7982931" cy="30880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chemeClr val="tx1"/>
                </a:solidFill>
              </a:rPr>
              <a:t>First step is detecting the </a:t>
            </a:r>
            <a:r>
              <a:rPr lang="en-US" sz="1800" dirty="0" err="1">
                <a:solidFill>
                  <a:schemeClr val="tx1"/>
                </a:solidFill>
              </a:rPr>
              <a:t>AprilTags</a:t>
            </a:r>
            <a:r>
              <a:rPr lang="en-US" sz="1800" dirty="0">
                <a:solidFill>
                  <a:schemeClr val="tx1"/>
                </a:solidFill>
              </a:rPr>
              <a:t> with an external camera.</a:t>
            </a:r>
          </a:p>
          <a:p>
            <a:endParaRPr lang="en-US" sz="1800" dirty="0">
              <a:solidFill>
                <a:schemeClr val="tx1"/>
              </a:solidFill>
            </a:endParaRPr>
          </a:p>
          <a:p>
            <a:pPr>
              <a:lnSpc>
                <a:spcPct val="150000"/>
              </a:lnSpc>
              <a:buChar char="•"/>
            </a:pPr>
            <a:r>
              <a:rPr lang="en-US" sz="1800" dirty="0">
                <a:solidFill>
                  <a:schemeClr val="tx1"/>
                </a:solidFill>
              </a:rPr>
              <a:t>An artificial environment for AprilTag Detection is created to test the algorithms before using the real robot.</a:t>
            </a:r>
          </a:p>
          <a:p>
            <a:pPr>
              <a:lnSpc>
                <a:spcPct val="150000"/>
              </a:lnSpc>
              <a:buChar char="•"/>
            </a:pPr>
            <a:r>
              <a:rPr lang="en-US" sz="1800" dirty="0" err="1">
                <a:solidFill>
                  <a:schemeClr val="tx1"/>
                </a:solidFill>
              </a:rPr>
              <a:t>Apriltag</a:t>
            </a:r>
            <a:r>
              <a:rPr lang="en-US" sz="1800" dirty="0">
                <a:solidFill>
                  <a:schemeClr val="tx1"/>
                </a:solidFill>
              </a:rPr>
              <a:t> library from </a:t>
            </a:r>
            <a:r>
              <a:rPr lang="en-US" sz="1800" dirty="0" err="1">
                <a:solidFill>
                  <a:schemeClr val="tx1"/>
                </a:solidFill>
              </a:rPr>
              <a:t>Swatbotics</a:t>
            </a:r>
            <a:r>
              <a:rPr lang="en-US" sz="1800" dirty="0">
                <a:solidFill>
                  <a:schemeClr val="tx1"/>
                </a:solidFill>
              </a:rPr>
              <a:t> and </a:t>
            </a:r>
            <a:r>
              <a:rPr lang="en-US" sz="1800" dirty="0" err="1">
                <a:solidFill>
                  <a:schemeClr val="tx1"/>
                </a:solidFill>
              </a:rPr>
              <a:t>AprilRobotics</a:t>
            </a:r>
            <a:r>
              <a:rPr lang="en-US" sz="1800" dirty="0">
                <a:solidFill>
                  <a:schemeClr val="tx1"/>
                </a:solidFill>
              </a:rPr>
              <a:t> are used and the </a:t>
            </a:r>
            <a:r>
              <a:rPr lang="en-US" sz="1800" dirty="0" err="1">
                <a:solidFill>
                  <a:schemeClr val="tx1"/>
                </a:solidFill>
              </a:rPr>
              <a:t>AprilRobotics</a:t>
            </a:r>
            <a:r>
              <a:rPr lang="en-US" sz="1800" dirty="0">
                <a:solidFill>
                  <a:schemeClr val="tx1"/>
                </a:solidFill>
              </a:rPr>
              <a:t> library is decided.</a:t>
            </a:r>
          </a:p>
          <a:p>
            <a:pPr>
              <a:lnSpc>
                <a:spcPct val="150000"/>
              </a:lnSpc>
              <a:buChar char="•"/>
            </a:pPr>
            <a:r>
              <a:rPr lang="en-US" sz="1800" dirty="0">
                <a:solidFill>
                  <a:schemeClr val="tx1"/>
                </a:solidFill>
              </a:rPr>
              <a:t>The detection algorithm and the CNN model are first tested with the webcam, then they are implemented on the </a:t>
            </a:r>
            <a:r>
              <a:rPr lang="en-US" sz="1800" dirty="0" err="1">
                <a:solidFill>
                  <a:schemeClr val="tx1"/>
                </a:solidFill>
              </a:rPr>
              <a:t>MIDog</a:t>
            </a:r>
            <a:r>
              <a:rPr lang="en-US" sz="1800" dirty="0">
                <a:solidFill>
                  <a:schemeClr val="tx1"/>
                </a:solidFill>
              </a:rPr>
              <a:t> for real world testing.</a:t>
            </a:r>
          </a:p>
        </p:txBody>
      </p:sp>
      <p:sp>
        <p:nvSpPr>
          <p:cNvPr id="7" name="Rectangle 6">
            <a:extLst>
              <a:ext uri="{FF2B5EF4-FFF2-40B4-BE49-F238E27FC236}">
                <a16:creationId xmlns:a16="http://schemas.microsoft.com/office/drawing/2014/main" id="{4E35ECFB-5D80-68CF-771B-9728CA849B99}"/>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9" name="TextBox 8">
            <a:extLst>
              <a:ext uri="{FF2B5EF4-FFF2-40B4-BE49-F238E27FC236}">
                <a16:creationId xmlns:a16="http://schemas.microsoft.com/office/drawing/2014/main" id="{093DC44B-DA17-B320-4EAE-BF13DB25C65D}"/>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850239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17672-056F-C245-F99A-4278A9085CC1}"/>
              </a:ext>
            </a:extLst>
          </p:cNvPr>
          <p:cNvSpPr>
            <a:spLocks noGrp="1"/>
          </p:cNvSpPr>
          <p:nvPr>
            <p:ph type="title"/>
          </p:nvPr>
        </p:nvSpPr>
        <p:spPr/>
        <p:txBody>
          <a:bodyPr/>
          <a:lstStyle/>
          <a:p>
            <a:r>
              <a:rPr lang="en-US" dirty="0" err="1"/>
              <a:t>MIDog</a:t>
            </a:r>
            <a:r>
              <a:rPr lang="en-US" dirty="0"/>
              <a:t> Moving Algorithm</a:t>
            </a:r>
          </a:p>
        </p:txBody>
      </p:sp>
      <p:sp>
        <p:nvSpPr>
          <p:cNvPr id="5" name="TextBox 4">
            <a:extLst>
              <a:ext uri="{FF2B5EF4-FFF2-40B4-BE49-F238E27FC236}">
                <a16:creationId xmlns:a16="http://schemas.microsoft.com/office/drawing/2014/main" id="{878707C0-A469-698B-F06D-222E8AD7ADBE}"/>
              </a:ext>
            </a:extLst>
          </p:cNvPr>
          <p:cNvSpPr txBox="1"/>
          <p:nvPr/>
        </p:nvSpPr>
        <p:spPr>
          <a:xfrm>
            <a:off x="285946" y="988193"/>
            <a:ext cx="8627096" cy="24299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500" dirty="0"/>
              <a:t>A two level continuous moving algorithm with pose detection is implemented to follow the AprilTag.</a:t>
            </a:r>
            <a:endParaRPr lang="en-US" dirty="0"/>
          </a:p>
          <a:p>
            <a:pPr>
              <a:lnSpc>
                <a:spcPct val="150000"/>
              </a:lnSpc>
              <a:buChar char="•"/>
            </a:pPr>
            <a:r>
              <a:rPr lang="en-US" sz="1500" dirty="0"/>
              <a:t>After detecting the pose of the AprilTag, the translation vector is used to obtain the distance between the Dog and the AprilTag, also the position of the AprilTag in the horizontal axis. </a:t>
            </a:r>
          </a:p>
          <a:p>
            <a:pPr>
              <a:lnSpc>
                <a:spcPct val="150000"/>
              </a:lnSpc>
              <a:buChar char="•"/>
            </a:pPr>
            <a:r>
              <a:rPr lang="en-US" sz="1500" dirty="0"/>
              <a:t>First level is checking the distance between the Dog and AprilTag</a:t>
            </a:r>
          </a:p>
          <a:p>
            <a:pPr>
              <a:lnSpc>
                <a:spcPct val="150000"/>
              </a:lnSpc>
              <a:buChar char="•"/>
            </a:pPr>
            <a:r>
              <a:rPr lang="en-US" sz="1500" dirty="0"/>
              <a:t>Second level is deciding on whether to move right, left or straight. </a:t>
            </a:r>
          </a:p>
          <a:p>
            <a:pPr>
              <a:lnSpc>
                <a:spcPct val="150000"/>
              </a:lnSpc>
            </a:pPr>
            <a:br>
              <a:rPr lang="en-US" dirty="0"/>
            </a:br>
            <a:endParaRPr lang="en-US" dirty="0"/>
          </a:p>
        </p:txBody>
      </p:sp>
      <p:pic>
        <p:nvPicPr>
          <p:cNvPr id="6" name="Picture 6" descr="A picture containing text, first-aid kit&#10;&#10;Description automatically generated">
            <a:extLst>
              <a:ext uri="{FF2B5EF4-FFF2-40B4-BE49-F238E27FC236}">
                <a16:creationId xmlns:a16="http://schemas.microsoft.com/office/drawing/2014/main" id="{002D5F92-EEA1-698D-7060-051B442F8CBE}"/>
              </a:ext>
            </a:extLst>
          </p:cNvPr>
          <p:cNvPicPr>
            <a:picLocks noChangeAspect="1"/>
          </p:cNvPicPr>
          <p:nvPr/>
        </p:nvPicPr>
        <p:blipFill>
          <a:blip r:embed="rId2"/>
          <a:stretch>
            <a:fillRect/>
          </a:stretch>
        </p:blipFill>
        <p:spPr>
          <a:xfrm>
            <a:off x="284375" y="2859071"/>
            <a:ext cx="2243685" cy="2242144"/>
          </a:xfrm>
          <a:prstGeom prst="rect">
            <a:avLst/>
          </a:prstGeom>
        </p:spPr>
      </p:pic>
      <p:pic>
        <p:nvPicPr>
          <p:cNvPr id="7" name="Picture 7" descr="A picture containing text, first-aid kit&#10;&#10;Description automatically generated">
            <a:extLst>
              <a:ext uri="{FF2B5EF4-FFF2-40B4-BE49-F238E27FC236}">
                <a16:creationId xmlns:a16="http://schemas.microsoft.com/office/drawing/2014/main" id="{0C4765F7-9C21-2369-20D5-B7F52AC1E259}"/>
              </a:ext>
            </a:extLst>
          </p:cNvPr>
          <p:cNvPicPr>
            <a:picLocks noChangeAspect="1"/>
          </p:cNvPicPr>
          <p:nvPr/>
        </p:nvPicPr>
        <p:blipFill>
          <a:blip r:embed="rId3"/>
          <a:stretch>
            <a:fillRect/>
          </a:stretch>
        </p:blipFill>
        <p:spPr>
          <a:xfrm>
            <a:off x="3263245" y="2852790"/>
            <a:ext cx="2243685" cy="2242144"/>
          </a:xfrm>
          <a:prstGeom prst="rect">
            <a:avLst/>
          </a:prstGeom>
        </p:spPr>
      </p:pic>
      <p:pic>
        <p:nvPicPr>
          <p:cNvPr id="8" name="Picture 8" descr="A picture containing text, first-aid kit&#10;&#10;Description automatically generated">
            <a:extLst>
              <a:ext uri="{FF2B5EF4-FFF2-40B4-BE49-F238E27FC236}">
                <a16:creationId xmlns:a16="http://schemas.microsoft.com/office/drawing/2014/main" id="{A70A6BED-D01D-8451-3AB9-698FC7547B2F}"/>
              </a:ext>
            </a:extLst>
          </p:cNvPr>
          <p:cNvPicPr>
            <a:picLocks noChangeAspect="1"/>
          </p:cNvPicPr>
          <p:nvPr/>
        </p:nvPicPr>
        <p:blipFill>
          <a:blip r:embed="rId4"/>
          <a:stretch>
            <a:fillRect/>
          </a:stretch>
        </p:blipFill>
        <p:spPr>
          <a:xfrm>
            <a:off x="6242116" y="2854360"/>
            <a:ext cx="2251540" cy="2249994"/>
          </a:xfrm>
          <a:prstGeom prst="rect">
            <a:avLst/>
          </a:prstGeom>
        </p:spPr>
      </p:pic>
      <p:sp>
        <p:nvSpPr>
          <p:cNvPr id="10" name="Rectangle 9">
            <a:extLst>
              <a:ext uri="{FF2B5EF4-FFF2-40B4-BE49-F238E27FC236}">
                <a16:creationId xmlns:a16="http://schemas.microsoft.com/office/drawing/2014/main" id="{F221A063-6746-2DE8-E074-F0800F6FD509}"/>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12" name="TextBox 11">
            <a:extLst>
              <a:ext uri="{FF2B5EF4-FFF2-40B4-BE49-F238E27FC236}">
                <a16:creationId xmlns:a16="http://schemas.microsoft.com/office/drawing/2014/main" id="{98C83B83-7F24-56D4-1FAD-D2CEF4ED1F99}"/>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62966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19B70-DC87-3A9D-730C-7D21C108BFCB}"/>
              </a:ext>
            </a:extLst>
          </p:cNvPr>
          <p:cNvSpPr>
            <a:spLocks noGrp="1"/>
          </p:cNvSpPr>
          <p:nvPr>
            <p:ph type="title"/>
          </p:nvPr>
        </p:nvSpPr>
        <p:spPr/>
        <p:txBody>
          <a:bodyPr/>
          <a:lstStyle/>
          <a:p>
            <a:r>
              <a:rPr lang="en-US" dirty="0"/>
              <a:t>AprilTag Detection CNN Model</a:t>
            </a:r>
          </a:p>
        </p:txBody>
      </p:sp>
      <p:sp>
        <p:nvSpPr>
          <p:cNvPr id="5" name="TextBox 4">
            <a:extLst>
              <a:ext uri="{FF2B5EF4-FFF2-40B4-BE49-F238E27FC236}">
                <a16:creationId xmlns:a16="http://schemas.microsoft.com/office/drawing/2014/main" id="{D63FE678-BD5C-D0A0-0AF6-D3135AD89179}"/>
              </a:ext>
            </a:extLst>
          </p:cNvPr>
          <p:cNvSpPr txBox="1"/>
          <p:nvPr/>
        </p:nvSpPr>
        <p:spPr>
          <a:xfrm>
            <a:off x="175967" y="1082397"/>
            <a:ext cx="803006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t>After the try-outs with external cameras and the </a:t>
            </a:r>
            <a:r>
              <a:rPr lang="en-US" sz="1800" err="1"/>
              <a:t>MIDog</a:t>
            </a:r>
            <a:r>
              <a:rPr lang="en-US" sz="1800"/>
              <a:t>, it has been decided that a more robust approach is needed.</a:t>
            </a:r>
          </a:p>
          <a:p>
            <a:endParaRPr lang="en-US" sz="1800"/>
          </a:p>
          <a:p>
            <a:pPr>
              <a:buChar char="•"/>
            </a:pPr>
            <a:r>
              <a:rPr lang="en-US" sz="1800"/>
              <a:t>Creating the Dataset</a:t>
            </a:r>
          </a:p>
          <a:p>
            <a:r>
              <a:rPr lang="en-US" sz="1800"/>
              <a:t>     1. 2200+ new images are created for training</a:t>
            </a:r>
            <a:endParaRPr lang="en-US"/>
          </a:p>
          <a:p>
            <a:r>
              <a:rPr lang="en-US" sz="1800"/>
              <a:t>     2. 400+ new images for testing</a:t>
            </a:r>
            <a:endParaRPr lang="en-US"/>
          </a:p>
          <a:p>
            <a:pPr>
              <a:buChar char="•"/>
            </a:pPr>
            <a:r>
              <a:rPr lang="en-US" sz="1800"/>
              <a:t>Training the Model</a:t>
            </a:r>
          </a:p>
          <a:p>
            <a:r>
              <a:rPr lang="en-US" sz="1800"/>
              <a:t>     1. Accuracy with small size is aimed. </a:t>
            </a:r>
          </a:p>
          <a:p>
            <a:r>
              <a:rPr lang="en-US" sz="1800"/>
              <a:t>     2. Mean Square Error and Adam optimizer is used.</a:t>
            </a:r>
            <a:endParaRPr lang="en-US"/>
          </a:p>
          <a:p>
            <a:pPr>
              <a:buChar char="•"/>
            </a:pPr>
            <a:r>
              <a:rPr lang="en-US" sz="1800"/>
              <a:t>Testing and Implementing the Model </a:t>
            </a:r>
          </a:p>
          <a:p>
            <a:r>
              <a:rPr lang="en-US" sz="1800"/>
              <a:t>     1. 10% Error by pixel </a:t>
            </a:r>
            <a:endParaRPr lang="en-US"/>
          </a:p>
          <a:p>
            <a:r>
              <a:rPr lang="en-US" sz="1800"/>
              <a:t>     2. Supporting the moving algorithm</a:t>
            </a:r>
          </a:p>
        </p:txBody>
      </p:sp>
      <p:sp>
        <p:nvSpPr>
          <p:cNvPr id="7" name="Rectangle 6">
            <a:extLst>
              <a:ext uri="{FF2B5EF4-FFF2-40B4-BE49-F238E27FC236}">
                <a16:creationId xmlns:a16="http://schemas.microsoft.com/office/drawing/2014/main" id="{63840EB9-E680-4E95-FFB1-D81102D08396}"/>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9" name="TextBox 8">
            <a:extLst>
              <a:ext uri="{FF2B5EF4-FFF2-40B4-BE49-F238E27FC236}">
                <a16:creationId xmlns:a16="http://schemas.microsoft.com/office/drawing/2014/main" id="{735DFEF4-396F-355B-95E6-0B5A9D088EA0}"/>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1871289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EB489-045C-B7E8-EDD7-742718962CD4}"/>
              </a:ext>
            </a:extLst>
          </p:cNvPr>
          <p:cNvSpPr>
            <a:spLocks noGrp="1"/>
          </p:cNvSpPr>
          <p:nvPr>
            <p:ph type="title"/>
          </p:nvPr>
        </p:nvSpPr>
        <p:spPr/>
        <p:txBody>
          <a:bodyPr/>
          <a:lstStyle/>
          <a:p>
            <a:r>
              <a:rPr lang="en-US" dirty="0"/>
              <a:t>Detection Examples</a:t>
            </a:r>
          </a:p>
        </p:txBody>
      </p:sp>
      <p:pic>
        <p:nvPicPr>
          <p:cNvPr id="5" name="Picture 5">
            <a:extLst>
              <a:ext uri="{FF2B5EF4-FFF2-40B4-BE49-F238E27FC236}">
                <a16:creationId xmlns:a16="http://schemas.microsoft.com/office/drawing/2014/main" id="{22C5F013-FB9A-255B-F083-E08B866D126F}"/>
              </a:ext>
            </a:extLst>
          </p:cNvPr>
          <p:cNvPicPr>
            <a:picLocks noChangeAspect="1"/>
          </p:cNvPicPr>
          <p:nvPr/>
        </p:nvPicPr>
        <p:blipFill>
          <a:blip r:embed="rId2"/>
          <a:stretch>
            <a:fillRect/>
          </a:stretch>
        </p:blipFill>
        <p:spPr>
          <a:xfrm>
            <a:off x="174396" y="935753"/>
            <a:ext cx="4347956" cy="2922500"/>
          </a:xfrm>
          <a:prstGeom prst="rect">
            <a:avLst/>
          </a:prstGeom>
        </p:spPr>
      </p:pic>
      <p:pic>
        <p:nvPicPr>
          <p:cNvPr id="6" name="Picture 6">
            <a:extLst>
              <a:ext uri="{FF2B5EF4-FFF2-40B4-BE49-F238E27FC236}">
                <a16:creationId xmlns:a16="http://schemas.microsoft.com/office/drawing/2014/main" id="{D5BCE1FF-8363-8467-DD6E-50C0029F73BB}"/>
              </a:ext>
            </a:extLst>
          </p:cNvPr>
          <p:cNvPicPr>
            <a:picLocks noChangeAspect="1"/>
          </p:cNvPicPr>
          <p:nvPr/>
        </p:nvPicPr>
        <p:blipFill>
          <a:blip r:embed="rId3"/>
          <a:stretch>
            <a:fillRect/>
          </a:stretch>
        </p:blipFill>
        <p:spPr>
          <a:xfrm>
            <a:off x="4747967" y="937323"/>
            <a:ext cx="4327950" cy="2914650"/>
          </a:xfrm>
          <a:prstGeom prst="rect">
            <a:avLst/>
          </a:prstGeom>
        </p:spPr>
      </p:pic>
      <p:sp>
        <p:nvSpPr>
          <p:cNvPr id="7" name="TextBox 6">
            <a:extLst>
              <a:ext uri="{FF2B5EF4-FFF2-40B4-BE49-F238E27FC236}">
                <a16:creationId xmlns:a16="http://schemas.microsoft.com/office/drawing/2014/main" id="{35AB4D3C-8C0C-C775-6ED3-B199A550D8D4}"/>
              </a:ext>
            </a:extLst>
          </p:cNvPr>
          <p:cNvSpPr txBox="1"/>
          <p:nvPr/>
        </p:nvSpPr>
        <p:spPr>
          <a:xfrm>
            <a:off x="615885" y="3939896"/>
            <a:ext cx="434575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Detection with Apriltag.detect function</a:t>
            </a:r>
          </a:p>
        </p:txBody>
      </p:sp>
      <p:sp>
        <p:nvSpPr>
          <p:cNvPr id="8" name="TextBox 7">
            <a:extLst>
              <a:ext uri="{FF2B5EF4-FFF2-40B4-BE49-F238E27FC236}">
                <a16:creationId xmlns:a16="http://schemas.microsoft.com/office/drawing/2014/main" id="{305BA85E-BF1C-8964-798C-AD0D157BBB6F}"/>
              </a:ext>
            </a:extLst>
          </p:cNvPr>
          <p:cNvSpPr txBox="1"/>
          <p:nvPr/>
        </p:nvSpPr>
        <p:spPr>
          <a:xfrm>
            <a:off x="5981307" y="393989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Detection with CNN</a:t>
            </a:r>
          </a:p>
        </p:txBody>
      </p:sp>
      <p:sp>
        <p:nvSpPr>
          <p:cNvPr id="10" name="Rectangle 9">
            <a:extLst>
              <a:ext uri="{FF2B5EF4-FFF2-40B4-BE49-F238E27FC236}">
                <a16:creationId xmlns:a16="http://schemas.microsoft.com/office/drawing/2014/main" id="{B2F43147-E5AE-488A-8FCF-ABD300CA8A2E}"/>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12" name="TextBox 11">
            <a:extLst>
              <a:ext uri="{FF2B5EF4-FFF2-40B4-BE49-F238E27FC236}">
                <a16:creationId xmlns:a16="http://schemas.microsoft.com/office/drawing/2014/main" id="{60360214-B0B0-EC5E-CD1D-19649D690E6F}"/>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3362410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F1ACB-3A30-ACDD-D70E-ABA2A6C55E02}"/>
              </a:ext>
            </a:extLst>
          </p:cNvPr>
          <p:cNvSpPr>
            <a:spLocks noGrp="1"/>
          </p:cNvSpPr>
          <p:nvPr>
            <p:ph type="title"/>
          </p:nvPr>
        </p:nvSpPr>
        <p:spPr/>
        <p:txBody>
          <a:bodyPr/>
          <a:lstStyle/>
          <a:p>
            <a:r>
              <a:rPr lang="en-US"/>
              <a:t>Filtering</a:t>
            </a:r>
          </a:p>
        </p:txBody>
      </p:sp>
      <p:sp>
        <p:nvSpPr>
          <p:cNvPr id="5" name="TextBox 4">
            <a:extLst>
              <a:ext uri="{FF2B5EF4-FFF2-40B4-BE49-F238E27FC236}">
                <a16:creationId xmlns:a16="http://schemas.microsoft.com/office/drawing/2014/main" id="{872413DC-549C-7C41-06BF-0935FC8E5FE1}"/>
              </a:ext>
            </a:extLst>
          </p:cNvPr>
          <p:cNvSpPr txBox="1"/>
          <p:nvPr/>
        </p:nvSpPr>
        <p:spPr>
          <a:xfrm>
            <a:off x="317369" y="1035294"/>
            <a:ext cx="8438560"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sz="1700">
                <a:latin typeface="Calibri"/>
                <a:ea typeface="Calibri"/>
                <a:cs typeface="Calibri"/>
              </a:rPr>
              <a:t>Since the readings from the AprilTag are quite noisy filtering is required.</a:t>
            </a:r>
          </a:p>
          <a:p>
            <a:endParaRPr lang="en-US"/>
          </a:p>
          <a:p>
            <a:pPr>
              <a:buChar char="•"/>
            </a:pPr>
            <a:r>
              <a:rPr lang="en-US" sz="1700">
                <a:latin typeface="Calibri"/>
                <a:ea typeface="Calibri"/>
                <a:cs typeface="Calibri"/>
              </a:rPr>
              <a:t>The readings are further filtered using a moving average filter at constant time steps to smoothen these readings and improve the measurements.</a:t>
            </a:r>
          </a:p>
        </p:txBody>
      </p:sp>
      <p:pic>
        <p:nvPicPr>
          <p:cNvPr id="6" name="Picture 6" descr="Chart, line chart&#10;&#10;Description automatically generated">
            <a:extLst>
              <a:ext uri="{FF2B5EF4-FFF2-40B4-BE49-F238E27FC236}">
                <a16:creationId xmlns:a16="http://schemas.microsoft.com/office/drawing/2014/main" id="{DE02DBFA-CCB7-3FC5-6A2D-1D2F944128D7}"/>
              </a:ext>
            </a:extLst>
          </p:cNvPr>
          <p:cNvPicPr>
            <a:picLocks noChangeAspect="1"/>
          </p:cNvPicPr>
          <p:nvPr/>
        </p:nvPicPr>
        <p:blipFill>
          <a:blip r:embed="rId2"/>
          <a:stretch>
            <a:fillRect/>
          </a:stretch>
        </p:blipFill>
        <p:spPr>
          <a:xfrm>
            <a:off x="2153814" y="2432852"/>
            <a:ext cx="4899215" cy="2419350"/>
          </a:xfrm>
          <a:prstGeom prst="rect">
            <a:avLst/>
          </a:prstGeom>
        </p:spPr>
      </p:pic>
      <p:sp>
        <p:nvSpPr>
          <p:cNvPr id="8" name="Rectangle 7">
            <a:extLst>
              <a:ext uri="{FF2B5EF4-FFF2-40B4-BE49-F238E27FC236}">
                <a16:creationId xmlns:a16="http://schemas.microsoft.com/office/drawing/2014/main" id="{6804EAAA-7009-12CD-457F-8C44379DA27F}"/>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10" name="TextBox 9">
            <a:extLst>
              <a:ext uri="{FF2B5EF4-FFF2-40B4-BE49-F238E27FC236}">
                <a16:creationId xmlns:a16="http://schemas.microsoft.com/office/drawing/2014/main" id="{23A6CC6C-8AC3-82B0-1838-E31BAB28956A}"/>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3977792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C403E07-A1BD-5B12-12DA-0E785CF1E9CC}"/>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8" name="TextBox 7">
            <a:extLst>
              <a:ext uri="{FF2B5EF4-FFF2-40B4-BE49-F238E27FC236}">
                <a16:creationId xmlns:a16="http://schemas.microsoft.com/office/drawing/2014/main" id="{00C5FE86-F9BD-2C00-779C-8FD8B968D4F3}"/>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cxnSp>
        <p:nvCxnSpPr>
          <p:cNvPr id="3" name="Straight Connector 2">
            <a:extLst>
              <a:ext uri="{FF2B5EF4-FFF2-40B4-BE49-F238E27FC236}">
                <a16:creationId xmlns:a16="http://schemas.microsoft.com/office/drawing/2014/main" id="{22D3C985-02CE-D35F-E8C7-0E5124FBD1A3}"/>
              </a:ext>
            </a:extLst>
          </p:cNvPr>
          <p:cNvCxnSpPr>
            <a:cxnSpLocks/>
          </p:cNvCxnSpPr>
          <p:nvPr/>
        </p:nvCxnSpPr>
        <p:spPr>
          <a:xfrm>
            <a:off x="1936371" y="2806110"/>
            <a:ext cx="876395"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C3218FA-8378-A9FD-DC50-5BE900779D02}"/>
              </a:ext>
            </a:extLst>
          </p:cNvPr>
          <p:cNvCxnSpPr>
            <a:cxnSpLocks/>
          </p:cNvCxnSpPr>
          <p:nvPr/>
        </p:nvCxnSpPr>
        <p:spPr>
          <a:xfrm flipH="1">
            <a:off x="6482948" y="2806110"/>
            <a:ext cx="820786"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23E5F1E-498F-086C-DB9B-31B16038BF14}"/>
              </a:ext>
            </a:extLst>
          </p:cNvPr>
          <p:cNvCxnSpPr>
            <a:cxnSpLocks/>
          </p:cNvCxnSpPr>
          <p:nvPr/>
        </p:nvCxnSpPr>
        <p:spPr>
          <a:xfrm>
            <a:off x="4999306" y="2806110"/>
            <a:ext cx="789644"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0C2A5AA-D52C-50F0-B211-65DDF80BE30A}"/>
              </a:ext>
            </a:extLst>
          </p:cNvPr>
          <p:cNvCxnSpPr>
            <a:cxnSpLocks/>
          </p:cNvCxnSpPr>
          <p:nvPr/>
        </p:nvCxnSpPr>
        <p:spPr>
          <a:xfrm flipH="1">
            <a:off x="3473399" y="2806110"/>
            <a:ext cx="814113"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1">
            <a:extLst>
              <a:ext uri="{FF2B5EF4-FFF2-40B4-BE49-F238E27FC236}">
                <a16:creationId xmlns:a16="http://schemas.microsoft.com/office/drawing/2014/main" id="{71EE5167-DDE1-0B07-87D6-81313BB79842}"/>
              </a:ext>
            </a:extLst>
          </p:cNvPr>
          <p:cNvSpPr txBox="1"/>
          <p:nvPr/>
        </p:nvSpPr>
        <p:spPr>
          <a:xfrm>
            <a:off x="3706648" y="3133735"/>
            <a:ext cx="1934677" cy="346249"/>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b="1" err="1">
                <a:solidFill>
                  <a:schemeClr val="accent6">
                    <a:lumMod val="75000"/>
                  </a:schemeClr>
                </a:solidFill>
                <a:ea typeface="맑은 고딕"/>
                <a:cs typeface="Arial"/>
              </a:rPr>
              <a:t>Mldog</a:t>
            </a:r>
            <a:r>
              <a:rPr lang="en-US" altLang="ko-KR" b="1">
                <a:solidFill>
                  <a:schemeClr val="accent6">
                    <a:lumMod val="75000"/>
                  </a:schemeClr>
                </a:solidFill>
                <a:ea typeface="맑은 고딕"/>
                <a:cs typeface="Arial"/>
              </a:rPr>
              <a:t>-Control</a:t>
            </a:r>
            <a:endParaRPr lang="en-US">
              <a:solidFill>
                <a:schemeClr val="accent6">
                  <a:lumMod val="75000"/>
                </a:schemeClr>
              </a:solidFill>
            </a:endParaRPr>
          </a:p>
        </p:txBody>
      </p:sp>
      <p:sp>
        <p:nvSpPr>
          <p:cNvPr id="15" name="TextBox 17">
            <a:extLst>
              <a:ext uri="{FF2B5EF4-FFF2-40B4-BE49-F238E27FC236}">
                <a16:creationId xmlns:a16="http://schemas.microsoft.com/office/drawing/2014/main" id="{36C4DB46-DD3E-9AF3-DECB-092E8D00D73C}"/>
              </a:ext>
            </a:extLst>
          </p:cNvPr>
          <p:cNvSpPr txBox="1"/>
          <p:nvPr/>
        </p:nvSpPr>
        <p:spPr>
          <a:xfrm>
            <a:off x="5589268" y="4041878"/>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a:solidFill>
                  <a:srgbClr val="0070C0"/>
                </a:solidFill>
                <a:ea typeface="+mn-lt"/>
                <a:cs typeface="+mn-lt"/>
              </a:rPr>
              <a:t>Simulation &amp; ROS</a:t>
            </a:r>
            <a:endParaRPr lang="en-US" sz="1500">
              <a:ea typeface="+mn-lt"/>
              <a:cs typeface="+mn-lt"/>
            </a:endParaRPr>
          </a:p>
        </p:txBody>
      </p:sp>
      <p:sp>
        <p:nvSpPr>
          <p:cNvPr id="17" name="TextBox 23">
            <a:extLst>
              <a:ext uri="{FF2B5EF4-FFF2-40B4-BE49-F238E27FC236}">
                <a16:creationId xmlns:a16="http://schemas.microsoft.com/office/drawing/2014/main" id="{E9BD1C49-473A-990F-702A-1F636DBFA5F8}"/>
              </a:ext>
            </a:extLst>
          </p:cNvPr>
          <p:cNvSpPr txBox="1"/>
          <p:nvPr/>
        </p:nvSpPr>
        <p:spPr>
          <a:xfrm>
            <a:off x="6917571" y="3043768"/>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a:solidFill>
                  <a:srgbClr val="0070C0"/>
                </a:solidFill>
                <a:ea typeface="+mn-lt"/>
                <a:cs typeface="+mn-lt"/>
              </a:rPr>
              <a:t>Results</a:t>
            </a:r>
            <a:endParaRPr lang="en-US"/>
          </a:p>
        </p:txBody>
      </p:sp>
      <p:sp>
        <p:nvSpPr>
          <p:cNvPr id="19" name="Frame 5">
            <a:extLst>
              <a:ext uri="{FF2B5EF4-FFF2-40B4-BE49-F238E27FC236}">
                <a16:creationId xmlns:a16="http://schemas.microsoft.com/office/drawing/2014/main" id="{8AC707A4-B5FF-7C44-ADDF-A7783AB1041D}"/>
              </a:ext>
            </a:extLst>
          </p:cNvPr>
          <p:cNvSpPr/>
          <p:nvPr/>
        </p:nvSpPr>
        <p:spPr>
          <a:xfrm flipH="1" flipV="1">
            <a:off x="5813637" y="2933314"/>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23" name="Group 22">
            <a:extLst>
              <a:ext uri="{FF2B5EF4-FFF2-40B4-BE49-F238E27FC236}">
                <a16:creationId xmlns:a16="http://schemas.microsoft.com/office/drawing/2014/main" id="{07A66A91-B66F-E08E-58BF-AC5C197A2E7E}"/>
              </a:ext>
            </a:extLst>
          </p:cNvPr>
          <p:cNvGrpSpPr/>
          <p:nvPr/>
        </p:nvGrpSpPr>
        <p:grpSpPr>
          <a:xfrm>
            <a:off x="5811104" y="2274227"/>
            <a:ext cx="927922" cy="927922"/>
            <a:chOff x="3472880" y="3030096"/>
            <a:chExt cx="1476444" cy="1476444"/>
          </a:xfrm>
          <a:effectLst>
            <a:outerShdw blurRad="63500" sx="102000" sy="102000" algn="ctr" rotWithShape="0">
              <a:prstClr val="black">
                <a:alpha val="40000"/>
              </a:prstClr>
            </a:outerShdw>
          </a:effectLst>
        </p:grpSpPr>
        <p:sp>
          <p:nvSpPr>
            <p:cNvPr id="21" name="Teardrop 14">
              <a:extLst>
                <a:ext uri="{FF2B5EF4-FFF2-40B4-BE49-F238E27FC236}">
                  <a16:creationId xmlns:a16="http://schemas.microsoft.com/office/drawing/2014/main" id="{F58DB469-A28D-FAB1-7E0A-D30701CB3149}"/>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22" name="Oval 21">
              <a:extLst>
                <a:ext uri="{FF2B5EF4-FFF2-40B4-BE49-F238E27FC236}">
                  <a16:creationId xmlns:a16="http://schemas.microsoft.com/office/drawing/2014/main" id="{EDCD06A4-9EFC-B180-2A34-BB029395AEC4}"/>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25" name="Frame 5">
            <a:extLst>
              <a:ext uri="{FF2B5EF4-FFF2-40B4-BE49-F238E27FC236}">
                <a16:creationId xmlns:a16="http://schemas.microsoft.com/office/drawing/2014/main" id="{DF91A999-180A-1E95-3734-066813FFD164}"/>
              </a:ext>
            </a:extLst>
          </p:cNvPr>
          <p:cNvSpPr/>
          <p:nvPr/>
        </p:nvSpPr>
        <p:spPr>
          <a:xfrm flipH="1" flipV="1">
            <a:off x="7190153" y="2017685"/>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29" name="Group 28">
            <a:extLst>
              <a:ext uri="{FF2B5EF4-FFF2-40B4-BE49-F238E27FC236}">
                <a16:creationId xmlns:a16="http://schemas.microsoft.com/office/drawing/2014/main" id="{136E25A6-E5B2-8C83-3AC1-4E9458DB0240}"/>
              </a:ext>
            </a:extLst>
          </p:cNvPr>
          <p:cNvGrpSpPr/>
          <p:nvPr/>
        </p:nvGrpSpPr>
        <p:grpSpPr>
          <a:xfrm>
            <a:off x="7187620" y="1358598"/>
            <a:ext cx="927922" cy="927922"/>
            <a:chOff x="3472880" y="3030096"/>
            <a:chExt cx="1476444" cy="1476444"/>
          </a:xfrm>
          <a:effectLst>
            <a:outerShdw blurRad="63500" sx="102000" sy="102000" algn="ctr" rotWithShape="0">
              <a:prstClr val="black">
                <a:alpha val="40000"/>
              </a:prstClr>
            </a:outerShdw>
          </a:effectLst>
        </p:grpSpPr>
        <p:sp>
          <p:nvSpPr>
            <p:cNvPr id="27" name="Teardrop 14">
              <a:extLst>
                <a:ext uri="{FF2B5EF4-FFF2-40B4-BE49-F238E27FC236}">
                  <a16:creationId xmlns:a16="http://schemas.microsoft.com/office/drawing/2014/main" id="{9AEE8A49-F4FC-C5F7-9521-6F08D807304E}"/>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28" name="Oval 27">
              <a:extLst>
                <a:ext uri="{FF2B5EF4-FFF2-40B4-BE49-F238E27FC236}">
                  <a16:creationId xmlns:a16="http://schemas.microsoft.com/office/drawing/2014/main" id="{3882F2A8-F13D-A441-17EA-C905A717C5C2}"/>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31" name="TextBox 11">
            <a:extLst>
              <a:ext uri="{FF2B5EF4-FFF2-40B4-BE49-F238E27FC236}">
                <a16:creationId xmlns:a16="http://schemas.microsoft.com/office/drawing/2014/main" id="{FCA7BD6B-DF3E-0FDF-1DC3-3278D3532C98}"/>
              </a:ext>
            </a:extLst>
          </p:cNvPr>
          <p:cNvSpPr txBox="1"/>
          <p:nvPr/>
        </p:nvSpPr>
        <p:spPr>
          <a:xfrm>
            <a:off x="728424" y="3179737"/>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a:solidFill>
                  <a:srgbClr val="0070C0"/>
                </a:solidFill>
                <a:ea typeface="+mn-lt"/>
                <a:cs typeface="+mn-lt"/>
              </a:rPr>
              <a:t>Problem Analysis</a:t>
            </a:r>
            <a:endParaRPr lang="en-US"/>
          </a:p>
        </p:txBody>
      </p:sp>
      <p:pic>
        <p:nvPicPr>
          <p:cNvPr id="33" name="Picture 96">
            <a:extLst>
              <a:ext uri="{FF2B5EF4-FFF2-40B4-BE49-F238E27FC236}">
                <a16:creationId xmlns:a16="http://schemas.microsoft.com/office/drawing/2014/main" id="{0DB9B1F1-DDEB-5645-2FFD-734BE64524D6}"/>
              </a:ext>
            </a:extLst>
          </p:cNvPr>
          <p:cNvPicPr>
            <a:picLocks noChangeAspect="1"/>
          </p:cNvPicPr>
          <p:nvPr/>
        </p:nvPicPr>
        <p:blipFill>
          <a:blip r:embed="rId2"/>
          <a:stretch>
            <a:fillRect/>
          </a:stretch>
        </p:blipFill>
        <p:spPr>
          <a:xfrm>
            <a:off x="6132683" y="2466025"/>
            <a:ext cx="288317" cy="268725"/>
          </a:xfrm>
          <a:prstGeom prst="rect">
            <a:avLst/>
          </a:prstGeom>
        </p:spPr>
      </p:pic>
      <p:pic>
        <p:nvPicPr>
          <p:cNvPr id="35" name="Picture 102">
            <a:extLst>
              <a:ext uri="{FF2B5EF4-FFF2-40B4-BE49-F238E27FC236}">
                <a16:creationId xmlns:a16="http://schemas.microsoft.com/office/drawing/2014/main" id="{51E48DD7-63C8-446A-F910-BC6FDCBFA834}"/>
              </a:ext>
            </a:extLst>
          </p:cNvPr>
          <p:cNvPicPr>
            <a:picLocks noChangeAspect="1"/>
          </p:cNvPicPr>
          <p:nvPr/>
        </p:nvPicPr>
        <p:blipFill>
          <a:blip r:embed="rId3"/>
          <a:stretch>
            <a:fillRect/>
          </a:stretch>
        </p:blipFill>
        <p:spPr>
          <a:xfrm>
            <a:off x="7450074" y="1493998"/>
            <a:ext cx="407606" cy="407027"/>
          </a:xfrm>
          <a:prstGeom prst="rect">
            <a:avLst/>
          </a:prstGeom>
        </p:spPr>
      </p:pic>
      <p:sp>
        <p:nvSpPr>
          <p:cNvPr id="37" name="Frame 5">
            <a:extLst>
              <a:ext uri="{FF2B5EF4-FFF2-40B4-BE49-F238E27FC236}">
                <a16:creationId xmlns:a16="http://schemas.microsoft.com/office/drawing/2014/main" id="{2281FA22-7B1B-9633-16B3-D449524BCE5F}"/>
              </a:ext>
            </a:extLst>
          </p:cNvPr>
          <p:cNvSpPr/>
          <p:nvPr/>
        </p:nvSpPr>
        <p:spPr>
          <a:xfrm flipH="1" flipV="1">
            <a:off x="1089915" y="2014294"/>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41" name="Group 40">
            <a:extLst>
              <a:ext uri="{FF2B5EF4-FFF2-40B4-BE49-F238E27FC236}">
                <a16:creationId xmlns:a16="http://schemas.microsoft.com/office/drawing/2014/main" id="{350FC4EC-3187-E8A6-5930-C5D1A5AC597E}"/>
              </a:ext>
            </a:extLst>
          </p:cNvPr>
          <p:cNvGrpSpPr/>
          <p:nvPr/>
        </p:nvGrpSpPr>
        <p:grpSpPr>
          <a:xfrm>
            <a:off x="1087382" y="1355207"/>
            <a:ext cx="927922" cy="927922"/>
            <a:chOff x="3472880" y="3030096"/>
            <a:chExt cx="1476444" cy="1476444"/>
          </a:xfrm>
          <a:effectLst>
            <a:outerShdw blurRad="63500" sx="102000" sy="102000" algn="ctr" rotWithShape="0">
              <a:prstClr val="black">
                <a:alpha val="40000"/>
              </a:prstClr>
            </a:outerShdw>
          </a:effectLst>
        </p:grpSpPr>
        <p:sp>
          <p:nvSpPr>
            <p:cNvPr id="39" name="Teardrop 14">
              <a:extLst>
                <a:ext uri="{FF2B5EF4-FFF2-40B4-BE49-F238E27FC236}">
                  <a16:creationId xmlns:a16="http://schemas.microsoft.com/office/drawing/2014/main" id="{A8FB9861-6204-56FF-2033-463818B7A13C}"/>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40" name="Oval 39">
              <a:extLst>
                <a:ext uri="{FF2B5EF4-FFF2-40B4-BE49-F238E27FC236}">
                  <a16:creationId xmlns:a16="http://schemas.microsoft.com/office/drawing/2014/main" id="{41ABF119-BFDF-5184-4AD2-2C458D729D73}"/>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43" name="Frame 4">
            <a:extLst>
              <a:ext uri="{FF2B5EF4-FFF2-40B4-BE49-F238E27FC236}">
                <a16:creationId xmlns:a16="http://schemas.microsoft.com/office/drawing/2014/main" id="{311B1BB7-62F5-9B02-C737-22CA43F521CF}"/>
              </a:ext>
            </a:extLst>
          </p:cNvPr>
          <p:cNvSpPr/>
          <p:nvPr/>
        </p:nvSpPr>
        <p:spPr>
          <a:xfrm flipH="1" flipV="1">
            <a:off x="4180777" y="2048575"/>
            <a:ext cx="927922" cy="927921"/>
          </a:xfrm>
          <a:prstGeom prst="rect">
            <a:avLst/>
          </a:prstGeom>
          <a:solidFill>
            <a:schemeClr val="accent6"/>
          </a:solidFill>
          <a:ln>
            <a:noFill/>
          </a:ln>
          <a:scene3d>
            <a:camera prst="isometricOffAxis2Top">
              <a:rot lat="19200000" lon="3000000" rev="17820000"/>
            </a:camera>
            <a:lightRig rig="soft" dir="t"/>
          </a:scene3d>
          <a:sp3d extrusionH="260350" prstMaterial="plastic">
            <a:bevelT w="12700" h="38100"/>
            <a:extrusionClr>
              <a:schemeClr val="accent6"/>
            </a:extrusionClr>
            <a:contourClr>
              <a:schemeClr val="accent6"/>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47" name="Group 46">
            <a:extLst>
              <a:ext uri="{FF2B5EF4-FFF2-40B4-BE49-F238E27FC236}">
                <a16:creationId xmlns:a16="http://schemas.microsoft.com/office/drawing/2014/main" id="{679889C6-6BFC-0D30-80C9-4F1440ABD5AF}"/>
              </a:ext>
            </a:extLst>
          </p:cNvPr>
          <p:cNvGrpSpPr/>
          <p:nvPr/>
        </p:nvGrpSpPr>
        <p:grpSpPr>
          <a:xfrm>
            <a:off x="4174913" y="1393191"/>
            <a:ext cx="927922" cy="927922"/>
            <a:chOff x="1467313" y="1705637"/>
            <a:chExt cx="1476444" cy="1476444"/>
          </a:xfrm>
          <a:effectLst>
            <a:outerShdw blurRad="63500" sx="102000" sy="102000" algn="ctr" rotWithShape="0">
              <a:prstClr val="black">
                <a:alpha val="40000"/>
              </a:prstClr>
            </a:outerShdw>
          </a:effectLst>
        </p:grpSpPr>
        <p:sp>
          <p:nvSpPr>
            <p:cNvPr id="45" name="Teardrop 14">
              <a:extLst>
                <a:ext uri="{FF2B5EF4-FFF2-40B4-BE49-F238E27FC236}">
                  <a16:creationId xmlns:a16="http://schemas.microsoft.com/office/drawing/2014/main" id="{1A40B907-7820-9014-5CE9-BCF3216AC2F1}"/>
                </a:ext>
              </a:extLst>
            </p:cNvPr>
            <p:cNvSpPr/>
            <p:nvPr/>
          </p:nvSpPr>
          <p:spPr>
            <a:xfrm rot="8100000">
              <a:off x="1467313" y="1705637"/>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46" name="Oval 45">
              <a:extLst>
                <a:ext uri="{FF2B5EF4-FFF2-40B4-BE49-F238E27FC236}">
                  <a16:creationId xmlns:a16="http://schemas.microsoft.com/office/drawing/2014/main" id="{25556198-DC4D-BC68-B5F5-10FD9EEEC67E}"/>
                </a:ext>
              </a:extLst>
            </p:cNvPr>
            <p:cNvSpPr/>
            <p:nvPr/>
          </p:nvSpPr>
          <p:spPr>
            <a:xfrm>
              <a:off x="1698639" y="1757663"/>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49" name="Frame 5">
            <a:extLst>
              <a:ext uri="{FF2B5EF4-FFF2-40B4-BE49-F238E27FC236}">
                <a16:creationId xmlns:a16="http://schemas.microsoft.com/office/drawing/2014/main" id="{58AEA7C1-AEB6-AA71-DFB3-484EE5D1788C}"/>
              </a:ext>
            </a:extLst>
          </p:cNvPr>
          <p:cNvSpPr/>
          <p:nvPr/>
        </p:nvSpPr>
        <p:spPr>
          <a:xfrm flipH="1" flipV="1">
            <a:off x="2679605" y="2909792"/>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53" name="Group 52">
            <a:extLst>
              <a:ext uri="{FF2B5EF4-FFF2-40B4-BE49-F238E27FC236}">
                <a16:creationId xmlns:a16="http://schemas.microsoft.com/office/drawing/2014/main" id="{676C9932-D3C6-51B4-B25B-4B9E0D1A384F}"/>
              </a:ext>
            </a:extLst>
          </p:cNvPr>
          <p:cNvGrpSpPr/>
          <p:nvPr/>
        </p:nvGrpSpPr>
        <p:grpSpPr>
          <a:xfrm>
            <a:off x="2677071" y="2250705"/>
            <a:ext cx="927922" cy="927922"/>
            <a:chOff x="3472880" y="3030096"/>
            <a:chExt cx="1476444" cy="1476444"/>
          </a:xfrm>
          <a:effectLst>
            <a:outerShdw blurRad="63500" sx="102000" sy="102000" algn="ctr" rotWithShape="0">
              <a:prstClr val="black">
                <a:alpha val="40000"/>
              </a:prstClr>
            </a:outerShdw>
          </a:effectLst>
        </p:grpSpPr>
        <p:sp>
          <p:nvSpPr>
            <p:cNvPr id="51" name="Teardrop 14">
              <a:extLst>
                <a:ext uri="{FF2B5EF4-FFF2-40B4-BE49-F238E27FC236}">
                  <a16:creationId xmlns:a16="http://schemas.microsoft.com/office/drawing/2014/main" id="{724DF10C-7887-D5B0-67AC-80D90422C7A9}"/>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52" name="Oval 51">
              <a:extLst>
                <a:ext uri="{FF2B5EF4-FFF2-40B4-BE49-F238E27FC236}">
                  <a16:creationId xmlns:a16="http://schemas.microsoft.com/office/drawing/2014/main" id="{3C63E50C-55E9-7780-9CB8-36560EB50D63}"/>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pic>
        <p:nvPicPr>
          <p:cNvPr id="55" name="Picture 27">
            <a:extLst>
              <a:ext uri="{FF2B5EF4-FFF2-40B4-BE49-F238E27FC236}">
                <a16:creationId xmlns:a16="http://schemas.microsoft.com/office/drawing/2014/main" id="{444149DD-BF4E-1BB4-47B4-69BA41B477D3}"/>
              </a:ext>
            </a:extLst>
          </p:cNvPr>
          <p:cNvPicPr>
            <a:picLocks noChangeAspect="1"/>
          </p:cNvPicPr>
          <p:nvPr/>
        </p:nvPicPr>
        <p:blipFill>
          <a:blip r:embed="rId4"/>
          <a:stretch>
            <a:fillRect/>
          </a:stretch>
        </p:blipFill>
        <p:spPr>
          <a:xfrm>
            <a:off x="1414820" y="1540392"/>
            <a:ext cx="328613" cy="314325"/>
          </a:xfrm>
          <a:prstGeom prst="rect">
            <a:avLst/>
          </a:prstGeom>
        </p:spPr>
      </p:pic>
      <p:pic>
        <p:nvPicPr>
          <p:cNvPr id="57" name="Picture 28">
            <a:extLst>
              <a:ext uri="{FF2B5EF4-FFF2-40B4-BE49-F238E27FC236}">
                <a16:creationId xmlns:a16="http://schemas.microsoft.com/office/drawing/2014/main" id="{33AA0D67-F5C0-93BE-30C5-A22E167A58A3}"/>
              </a:ext>
            </a:extLst>
          </p:cNvPr>
          <p:cNvPicPr>
            <a:picLocks noChangeAspect="1"/>
          </p:cNvPicPr>
          <p:nvPr/>
        </p:nvPicPr>
        <p:blipFill>
          <a:blip r:embed="rId5"/>
          <a:stretch>
            <a:fillRect/>
          </a:stretch>
        </p:blipFill>
        <p:spPr>
          <a:xfrm>
            <a:off x="4482556" y="1587221"/>
            <a:ext cx="257175" cy="300038"/>
          </a:xfrm>
          <a:prstGeom prst="rect">
            <a:avLst/>
          </a:prstGeom>
        </p:spPr>
      </p:pic>
      <p:sp>
        <p:nvSpPr>
          <p:cNvPr id="59" name="TextBox 17">
            <a:extLst>
              <a:ext uri="{FF2B5EF4-FFF2-40B4-BE49-F238E27FC236}">
                <a16:creationId xmlns:a16="http://schemas.microsoft.com/office/drawing/2014/main" id="{F6726BBC-316E-5ED6-BCDF-208CA7773C2C}"/>
              </a:ext>
            </a:extLst>
          </p:cNvPr>
          <p:cNvSpPr txBox="1"/>
          <p:nvPr/>
        </p:nvSpPr>
        <p:spPr>
          <a:xfrm>
            <a:off x="2089673" y="4041876"/>
            <a:ext cx="2078855"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err="1">
                <a:solidFill>
                  <a:srgbClr val="0070C0"/>
                </a:solidFill>
                <a:ea typeface="맑은 고딕"/>
                <a:cs typeface="Arial"/>
              </a:rPr>
              <a:t>AprilTag</a:t>
            </a:r>
            <a:r>
              <a:rPr lang="en-US" altLang="ko-KR" sz="1500" b="1">
                <a:solidFill>
                  <a:srgbClr val="0070C0"/>
                </a:solidFill>
                <a:ea typeface="맑은 고딕"/>
                <a:cs typeface="Arial"/>
              </a:rPr>
              <a:t> Detection</a:t>
            </a:r>
            <a:endParaRPr lang="en-US" altLang="ko-KR" sz="1500">
              <a:solidFill>
                <a:srgbClr val="0070C0"/>
              </a:solidFill>
              <a:ea typeface="맑은 고딕"/>
              <a:cs typeface="Calibri"/>
            </a:endParaRPr>
          </a:p>
        </p:txBody>
      </p:sp>
      <p:pic>
        <p:nvPicPr>
          <p:cNvPr id="61" name="Picture 8">
            <a:extLst>
              <a:ext uri="{FF2B5EF4-FFF2-40B4-BE49-F238E27FC236}">
                <a16:creationId xmlns:a16="http://schemas.microsoft.com/office/drawing/2014/main" id="{5FD442CA-5F21-819C-053F-B30F2985A93D}"/>
              </a:ext>
            </a:extLst>
          </p:cNvPr>
          <p:cNvPicPr>
            <a:picLocks noChangeAspect="1"/>
          </p:cNvPicPr>
          <p:nvPr/>
        </p:nvPicPr>
        <p:blipFill>
          <a:blip r:embed="rId6"/>
          <a:stretch>
            <a:fillRect/>
          </a:stretch>
        </p:blipFill>
        <p:spPr>
          <a:xfrm>
            <a:off x="2964311" y="2390828"/>
            <a:ext cx="362199" cy="352425"/>
          </a:xfrm>
          <a:prstGeom prst="rect">
            <a:avLst/>
          </a:prstGeom>
        </p:spPr>
      </p:pic>
    </p:spTree>
    <p:extLst>
      <p:ext uri="{BB962C8B-B14F-4D97-AF65-F5344CB8AC3E}">
        <p14:creationId xmlns:p14="http://schemas.microsoft.com/office/powerpoint/2010/main" val="3921818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D43A6-014C-3C1F-06F3-82961982536E}"/>
              </a:ext>
            </a:extLst>
          </p:cNvPr>
          <p:cNvSpPr>
            <a:spLocks noGrp="1"/>
          </p:cNvSpPr>
          <p:nvPr>
            <p:ph type="title"/>
          </p:nvPr>
        </p:nvSpPr>
        <p:spPr/>
        <p:txBody>
          <a:bodyPr/>
          <a:lstStyle/>
          <a:p>
            <a:r>
              <a:rPr lang="en-US" dirty="0"/>
              <a:t>Control</a:t>
            </a:r>
          </a:p>
        </p:txBody>
      </p:sp>
      <p:sp>
        <p:nvSpPr>
          <p:cNvPr id="5" name="TextBox 4">
            <a:extLst>
              <a:ext uri="{FF2B5EF4-FFF2-40B4-BE49-F238E27FC236}">
                <a16:creationId xmlns:a16="http://schemas.microsoft.com/office/drawing/2014/main" id="{73C9DFA9-293E-957A-5EC6-B189DBDAE3AC}"/>
              </a:ext>
            </a:extLst>
          </p:cNvPr>
          <p:cNvSpPr txBox="1"/>
          <p:nvPr/>
        </p:nvSpPr>
        <p:spPr>
          <a:xfrm>
            <a:off x="309513" y="1043145"/>
            <a:ext cx="8572107"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sz="1700">
                <a:latin typeface="Calibri"/>
                <a:ea typeface="Calibri"/>
                <a:cs typeface="Calibri"/>
              </a:rPr>
              <a:t>A simple proportional controller was used.</a:t>
            </a:r>
          </a:p>
          <a:p>
            <a:endParaRPr lang="en-US"/>
          </a:p>
          <a:p>
            <a:pPr>
              <a:buChar char="•"/>
            </a:pPr>
            <a:r>
              <a:rPr lang="en-US" sz="1700">
                <a:latin typeface="Calibri"/>
                <a:ea typeface="Calibri"/>
                <a:cs typeface="Calibri"/>
              </a:rPr>
              <a:t> An error in the X direction would activate the steering controller in the Z direction would determine the forward movement.</a:t>
            </a:r>
          </a:p>
        </p:txBody>
      </p:sp>
      <p:pic>
        <p:nvPicPr>
          <p:cNvPr id="6" name="Picture 6" descr="Diagram&#10;&#10;Description automatically generated">
            <a:extLst>
              <a:ext uri="{FF2B5EF4-FFF2-40B4-BE49-F238E27FC236}">
                <a16:creationId xmlns:a16="http://schemas.microsoft.com/office/drawing/2014/main" id="{DD7D960B-92D4-A421-F351-3584244277CE}"/>
              </a:ext>
            </a:extLst>
          </p:cNvPr>
          <p:cNvPicPr>
            <a:picLocks noChangeAspect="1"/>
          </p:cNvPicPr>
          <p:nvPr/>
        </p:nvPicPr>
        <p:blipFill>
          <a:blip r:embed="rId2"/>
          <a:stretch>
            <a:fillRect/>
          </a:stretch>
        </p:blipFill>
        <p:spPr>
          <a:xfrm>
            <a:off x="1811727" y="2187138"/>
            <a:ext cx="5394855" cy="2847975"/>
          </a:xfrm>
          <a:prstGeom prst="rect">
            <a:avLst/>
          </a:prstGeom>
        </p:spPr>
      </p:pic>
      <p:sp>
        <p:nvSpPr>
          <p:cNvPr id="8" name="Rectangle 7">
            <a:extLst>
              <a:ext uri="{FF2B5EF4-FFF2-40B4-BE49-F238E27FC236}">
                <a16:creationId xmlns:a16="http://schemas.microsoft.com/office/drawing/2014/main" id="{3FB9D034-251B-60ED-F9A8-D033D8E750D3}"/>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10" name="TextBox 9">
            <a:extLst>
              <a:ext uri="{FF2B5EF4-FFF2-40B4-BE49-F238E27FC236}">
                <a16:creationId xmlns:a16="http://schemas.microsoft.com/office/drawing/2014/main" id="{FDA9805D-DFCE-C641-C2F0-0584ECD82E08}"/>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2133333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07856F-BCA0-64B0-A1F8-B38C5FCD2DBE}"/>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8" name="TextBox 7">
            <a:extLst>
              <a:ext uri="{FF2B5EF4-FFF2-40B4-BE49-F238E27FC236}">
                <a16:creationId xmlns:a16="http://schemas.microsoft.com/office/drawing/2014/main" id="{284DD49C-EFB8-590F-634D-3513E568B810}"/>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cxnSp>
        <p:nvCxnSpPr>
          <p:cNvPr id="3" name="Straight Connector 2">
            <a:extLst>
              <a:ext uri="{FF2B5EF4-FFF2-40B4-BE49-F238E27FC236}">
                <a16:creationId xmlns:a16="http://schemas.microsoft.com/office/drawing/2014/main" id="{FE87FFA8-47A1-5030-9735-7CF9F22D8F07}"/>
              </a:ext>
            </a:extLst>
          </p:cNvPr>
          <p:cNvCxnSpPr>
            <a:cxnSpLocks/>
          </p:cNvCxnSpPr>
          <p:nvPr/>
        </p:nvCxnSpPr>
        <p:spPr>
          <a:xfrm>
            <a:off x="1920659" y="2798259"/>
            <a:ext cx="876395"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DB85DC7-5F8C-1DFF-DF8E-5AF73BA0BEBD}"/>
              </a:ext>
            </a:extLst>
          </p:cNvPr>
          <p:cNvCxnSpPr>
            <a:cxnSpLocks/>
          </p:cNvCxnSpPr>
          <p:nvPr/>
        </p:nvCxnSpPr>
        <p:spPr>
          <a:xfrm flipH="1">
            <a:off x="6467236" y="2798259"/>
            <a:ext cx="820786"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278FE1-1014-3641-229F-9B3DC32F7633}"/>
              </a:ext>
            </a:extLst>
          </p:cNvPr>
          <p:cNvCxnSpPr>
            <a:cxnSpLocks/>
          </p:cNvCxnSpPr>
          <p:nvPr/>
        </p:nvCxnSpPr>
        <p:spPr>
          <a:xfrm>
            <a:off x="4983594" y="2798259"/>
            <a:ext cx="789644"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D62298A-5141-23BA-9CE0-A0579F143B7A}"/>
              </a:ext>
            </a:extLst>
          </p:cNvPr>
          <p:cNvCxnSpPr>
            <a:cxnSpLocks/>
          </p:cNvCxnSpPr>
          <p:nvPr/>
        </p:nvCxnSpPr>
        <p:spPr>
          <a:xfrm flipH="1">
            <a:off x="3457687" y="2798259"/>
            <a:ext cx="814113"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1">
            <a:extLst>
              <a:ext uri="{FF2B5EF4-FFF2-40B4-BE49-F238E27FC236}">
                <a16:creationId xmlns:a16="http://schemas.microsoft.com/office/drawing/2014/main" id="{B5545792-AAAF-5923-A67B-417DA36AA34A}"/>
              </a:ext>
            </a:extLst>
          </p:cNvPr>
          <p:cNvSpPr txBox="1"/>
          <p:nvPr/>
        </p:nvSpPr>
        <p:spPr>
          <a:xfrm>
            <a:off x="5191099" y="4159757"/>
            <a:ext cx="2146780" cy="392415"/>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100" b="1">
                <a:solidFill>
                  <a:srgbClr val="E36C09"/>
                </a:solidFill>
                <a:ea typeface="+mn-lt"/>
                <a:cs typeface="+mn-lt"/>
              </a:rPr>
              <a:t>Simulation &amp;ROS</a:t>
            </a:r>
            <a:endParaRPr lang="en-US">
              <a:solidFill>
                <a:srgbClr val="E36C09"/>
              </a:solidFill>
            </a:endParaRPr>
          </a:p>
        </p:txBody>
      </p:sp>
      <p:sp>
        <p:nvSpPr>
          <p:cNvPr id="15" name="TextBox 17">
            <a:extLst>
              <a:ext uri="{FF2B5EF4-FFF2-40B4-BE49-F238E27FC236}">
                <a16:creationId xmlns:a16="http://schemas.microsoft.com/office/drawing/2014/main" id="{7D5F2F1C-810F-FEF8-9441-1366E5F103E0}"/>
              </a:ext>
            </a:extLst>
          </p:cNvPr>
          <p:cNvSpPr txBox="1"/>
          <p:nvPr/>
        </p:nvSpPr>
        <p:spPr>
          <a:xfrm>
            <a:off x="3825196" y="3043882"/>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err="1">
                <a:solidFill>
                  <a:srgbClr val="0070C0"/>
                </a:solidFill>
                <a:ea typeface="맑은 고딕"/>
                <a:cs typeface="Arial"/>
              </a:rPr>
              <a:t>Mldog</a:t>
            </a:r>
            <a:r>
              <a:rPr lang="en-US" altLang="ko-KR" sz="1500" b="1">
                <a:solidFill>
                  <a:srgbClr val="0070C0"/>
                </a:solidFill>
                <a:ea typeface="맑은 고딕"/>
                <a:cs typeface="Arial"/>
              </a:rPr>
              <a:t>-Control</a:t>
            </a:r>
            <a:endParaRPr lang="en-US"/>
          </a:p>
        </p:txBody>
      </p:sp>
      <p:sp>
        <p:nvSpPr>
          <p:cNvPr id="17" name="TextBox 20">
            <a:extLst>
              <a:ext uri="{FF2B5EF4-FFF2-40B4-BE49-F238E27FC236}">
                <a16:creationId xmlns:a16="http://schemas.microsoft.com/office/drawing/2014/main" id="{CD7F4594-4475-DB21-A5BE-70E12CF60928}"/>
              </a:ext>
            </a:extLst>
          </p:cNvPr>
          <p:cNvSpPr txBox="1"/>
          <p:nvPr/>
        </p:nvSpPr>
        <p:spPr>
          <a:xfrm>
            <a:off x="2247329" y="3978960"/>
            <a:ext cx="1984588"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err="1">
                <a:solidFill>
                  <a:srgbClr val="0070C0"/>
                </a:solidFill>
                <a:ea typeface="+mn-lt"/>
                <a:cs typeface="+mn-lt"/>
              </a:rPr>
              <a:t>AprilTag</a:t>
            </a:r>
            <a:r>
              <a:rPr lang="en-US" sz="1500" b="1">
                <a:solidFill>
                  <a:srgbClr val="0070C0"/>
                </a:solidFill>
                <a:ea typeface="+mn-lt"/>
                <a:cs typeface="+mn-lt"/>
              </a:rPr>
              <a:t> Detection</a:t>
            </a:r>
            <a:endParaRPr lang="en-US"/>
          </a:p>
        </p:txBody>
      </p:sp>
      <p:sp>
        <p:nvSpPr>
          <p:cNvPr id="19" name="TextBox 23">
            <a:extLst>
              <a:ext uri="{FF2B5EF4-FFF2-40B4-BE49-F238E27FC236}">
                <a16:creationId xmlns:a16="http://schemas.microsoft.com/office/drawing/2014/main" id="{F01A0EF8-0A27-D8A6-2A98-0AA035DF1DA5}"/>
              </a:ext>
            </a:extLst>
          </p:cNvPr>
          <p:cNvSpPr txBox="1"/>
          <p:nvPr/>
        </p:nvSpPr>
        <p:spPr>
          <a:xfrm>
            <a:off x="6901859" y="3035917"/>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a:solidFill>
                  <a:srgbClr val="0070C0"/>
                </a:solidFill>
                <a:ea typeface="맑은 고딕"/>
                <a:cs typeface="Arial"/>
              </a:rPr>
              <a:t>Results</a:t>
            </a:r>
            <a:endParaRPr lang="en-US"/>
          </a:p>
        </p:txBody>
      </p:sp>
      <p:sp>
        <p:nvSpPr>
          <p:cNvPr id="21" name="Frame 5">
            <a:extLst>
              <a:ext uri="{FF2B5EF4-FFF2-40B4-BE49-F238E27FC236}">
                <a16:creationId xmlns:a16="http://schemas.microsoft.com/office/drawing/2014/main" id="{00DD5270-33D0-66E6-CE5C-783550063233}"/>
              </a:ext>
            </a:extLst>
          </p:cNvPr>
          <p:cNvSpPr/>
          <p:nvPr/>
        </p:nvSpPr>
        <p:spPr>
          <a:xfrm flipH="1" flipV="1">
            <a:off x="7174441" y="2009834"/>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25" name="Group 24">
            <a:extLst>
              <a:ext uri="{FF2B5EF4-FFF2-40B4-BE49-F238E27FC236}">
                <a16:creationId xmlns:a16="http://schemas.microsoft.com/office/drawing/2014/main" id="{C8246B51-1271-1703-C3E0-B305F559184A}"/>
              </a:ext>
            </a:extLst>
          </p:cNvPr>
          <p:cNvGrpSpPr/>
          <p:nvPr/>
        </p:nvGrpSpPr>
        <p:grpSpPr>
          <a:xfrm>
            <a:off x="7171908" y="1350747"/>
            <a:ext cx="927922" cy="927922"/>
            <a:chOff x="3472880" y="3030096"/>
            <a:chExt cx="1476444" cy="1476444"/>
          </a:xfrm>
          <a:effectLst>
            <a:outerShdw blurRad="63500" sx="102000" sy="102000" algn="ctr" rotWithShape="0">
              <a:prstClr val="black">
                <a:alpha val="40000"/>
              </a:prstClr>
            </a:outerShdw>
          </a:effectLst>
        </p:grpSpPr>
        <p:sp>
          <p:nvSpPr>
            <p:cNvPr id="23" name="Teardrop 14">
              <a:extLst>
                <a:ext uri="{FF2B5EF4-FFF2-40B4-BE49-F238E27FC236}">
                  <a16:creationId xmlns:a16="http://schemas.microsoft.com/office/drawing/2014/main" id="{B84948D8-7ABA-B326-544A-9A30DE00A7B5}"/>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24" name="Oval 23">
              <a:extLst>
                <a:ext uri="{FF2B5EF4-FFF2-40B4-BE49-F238E27FC236}">
                  <a16:creationId xmlns:a16="http://schemas.microsoft.com/office/drawing/2014/main" id="{785D7558-4FF7-45F0-EFEE-33CC867DE39F}"/>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27" name="TextBox 11">
            <a:extLst>
              <a:ext uri="{FF2B5EF4-FFF2-40B4-BE49-F238E27FC236}">
                <a16:creationId xmlns:a16="http://schemas.microsoft.com/office/drawing/2014/main" id="{60CCD0BC-C266-73DB-4047-74B150D2443A}"/>
              </a:ext>
            </a:extLst>
          </p:cNvPr>
          <p:cNvSpPr txBox="1"/>
          <p:nvPr/>
        </p:nvSpPr>
        <p:spPr>
          <a:xfrm>
            <a:off x="288506" y="3109084"/>
            <a:ext cx="2377371" cy="30793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a:solidFill>
                  <a:srgbClr val="0070C0"/>
                </a:solidFill>
                <a:ea typeface="+mn-lt"/>
                <a:cs typeface="+mn-lt"/>
              </a:rPr>
              <a:t>Problem Analysis</a:t>
            </a:r>
            <a:endParaRPr lang="en-US"/>
          </a:p>
        </p:txBody>
      </p:sp>
      <p:pic>
        <p:nvPicPr>
          <p:cNvPr id="29" name="Picture 102">
            <a:extLst>
              <a:ext uri="{FF2B5EF4-FFF2-40B4-BE49-F238E27FC236}">
                <a16:creationId xmlns:a16="http://schemas.microsoft.com/office/drawing/2014/main" id="{CA8D5477-E916-DD36-7CEF-8ECF1C9B3F24}"/>
              </a:ext>
            </a:extLst>
          </p:cNvPr>
          <p:cNvPicPr>
            <a:picLocks noChangeAspect="1"/>
          </p:cNvPicPr>
          <p:nvPr/>
        </p:nvPicPr>
        <p:blipFill>
          <a:blip r:embed="rId2"/>
          <a:stretch>
            <a:fillRect/>
          </a:stretch>
        </p:blipFill>
        <p:spPr>
          <a:xfrm>
            <a:off x="7434362" y="1486147"/>
            <a:ext cx="407606" cy="407027"/>
          </a:xfrm>
          <a:prstGeom prst="rect">
            <a:avLst/>
          </a:prstGeom>
        </p:spPr>
      </p:pic>
      <p:sp>
        <p:nvSpPr>
          <p:cNvPr id="31" name="Frame 5">
            <a:extLst>
              <a:ext uri="{FF2B5EF4-FFF2-40B4-BE49-F238E27FC236}">
                <a16:creationId xmlns:a16="http://schemas.microsoft.com/office/drawing/2014/main" id="{F535A05A-738D-14D8-08ED-0C9B027FA9C0}"/>
              </a:ext>
            </a:extLst>
          </p:cNvPr>
          <p:cNvSpPr/>
          <p:nvPr/>
        </p:nvSpPr>
        <p:spPr>
          <a:xfrm flipH="1" flipV="1">
            <a:off x="1074203" y="2006443"/>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35" name="Group 34">
            <a:extLst>
              <a:ext uri="{FF2B5EF4-FFF2-40B4-BE49-F238E27FC236}">
                <a16:creationId xmlns:a16="http://schemas.microsoft.com/office/drawing/2014/main" id="{6734AE58-36E3-71FC-1D8C-10C22E4EAD1D}"/>
              </a:ext>
            </a:extLst>
          </p:cNvPr>
          <p:cNvGrpSpPr/>
          <p:nvPr/>
        </p:nvGrpSpPr>
        <p:grpSpPr>
          <a:xfrm>
            <a:off x="1071670" y="1347356"/>
            <a:ext cx="927922" cy="927922"/>
            <a:chOff x="3472880" y="3030096"/>
            <a:chExt cx="1476444" cy="1476444"/>
          </a:xfrm>
          <a:effectLst>
            <a:outerShdw blurRad="63500" sx="102000" sy="102000" algn="ctr" rotWithShape="0">
              <a:prstClr val="black">
                <a:alpha val="40000"/>
              </a:prstClr>
            </a:outerShdw>
          </a:effectLst>
        </p:grpSpPr>
        <p:sp>
          <p:nvSpPr>
            <p:cNvPr id="33" name="Teardrop 14">
              <a:extLst>
                <a:ext uri="{FF2B5EF4-FFF2-40B4-BE49-F238E27FC236}">
                  <a16:creationId xmlns:a16="http://schemas.microsoft.com/office/drawing/2014/main" id="{A1CAA207-551E-5E33-86FE-A39CE0E95015}"/>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34" name="Oval 33">
              <a:extLst>
                <a:ext uri="{FF2B5EF4-FFF2-40B4-BE49-F238E27FC236}">
                  <a16:creationId xmlns:a16="http://schemas.microsoft.com/office/drawing/2014/main" id="{4E419B27-7ED7-5817-C0BA-B3207FB952A7}"/>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37" name="Frame 5">
            <a:extLst>
              <a:ext uri="{FF2B5EF4-FFF2-40B4-BE49-F238E27FC236}">
                <a16:creationId xmlns:a16="http://schemas.microsoft.com/office/drawing/2014/main" id="{5958EF4E-07E3-D1BE-AC77-4E8422E5A881}"/>
              </a:ext>
            </a:extLst>
          </p:cNvPr>
          <p:cNvSpPr/>
          <p:nvPr/>
        </p:nvSpPr>
        <p:spPr>
          <a:xfrm flipH="1" flipV="1">
            <a:off x="2663893" y="2901941"/>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41" name="Group 40">
            <a:extLst>
              <a:ext uri="{FF2B5EF4-FFF2-40B4-BE49-F238E27FC236}">
                <a16:creationId xmlns:a16="http://schemas.microsoft.com/office/drawing/2014/main" id="{E3FA29FB-AD7E-CD0C-36C2-8272B12A75F0}"/>
              </a:ext>
            </a:extLst>
          </p:cNvPr>
          <p:cNvGrpSpPr/>
          <p:nvPr/>
        </p:nvGrpSpPr>
        <p:grpSpPr>
          <a:xfrm>
            <a:off x="2661359" y="2242854"/>
            <a:ext cx="927922" cy="927922"/>
            <a:chOff x="3472880" y="3030096"/>
            <a:chExt cx="1476444" cy="1476444"/>
          </a:xfrm>
          <a:effectLst>
            <a:outerShdw blurRad="63500" sx="102000" sy="102000" algn="ctr" rotWithShape="0">
              <a:prstClr val="black">
                <a:alpha val="40000"/>
              </a:prstClr>
            </a:outerShdw>
          </a:effectLst>
        </p:grpSpPr>
        <p:sp>
          <p:nvSpPr>
            <p:cNvPr id="39" name="Teardrop 14">
              <a:extLst>
                <a:ext uri="{FF2B5EF4-FFF2-40B4-BE49-F238E27FC236}">
                  <a16:creationId xmlns:a16="http://schemas.microsoft.com/office/drawing/2014/main" id="{603BEFDC-080E-1CA9-0E11-F58FDA703D27}"/>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40" name="Oval 39">
              <a:extLst>
                <a:ext uri="{FF2B5EF4-FFF2-40B4-BE49-F238E27FC236}">
                  <a16:creationId xmlns:a16="http://schemas.microsoft.com/office/drawing/2014/main" id="{C5EAC1D6-D8F0-2932-F030-80660106F61B}"/>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pic>
        <p:nvPicPr>
          <p:cNvPr id="43" name="Picture 27">
            <a:extLst>
              <a:ext uri="{FF2B5EF4-FFF2-40B4-BE49-F238E27FC236}">
                <a16:creationId xmlns:a16="http://schemas.microsoft.com/office/drawing/2014/main" id="{97F77843-A2C8-756A-87DF-22E1C52645DA}"/>
              </a:ext>
            </a:extLst>
          </p:cNvPr>
          <p:cNvPicPr>
            <a:picLocks noChangeAspect="1"/>
          </p:cNvPicPr>
          <p:nvPr/>
        </p:nvPicPr>
        <p:blipFill>
          <a:blip r:embed="rId3"/>
          <a:stretch>
            <a:fillRect/>
          </a:stretch>
        </p:blipFill>
        <p:spPr>
          <a:xfrm>
            <a:off x="1375541" y="1501140"/>
            <a:ext cx="328613" cy="314325"/>
          </a:xfrm>
          <a:prstGeom prst="rect">
            <a:avLst/>
          </a:prstGeom>
        </p:spPr>
      </p:pic>
      <p:sp>
        <p:nvSpPr>
          <p:cNvPr id="45" name="Frame 4">
            <a:extLst>
              <a:ext uri="{FF2B5EF4-FFF2-40B4-BE49-F238E27FC236}">
                <a16:creationId xmlns:a16="http://schemas.microsoft.com/office/drawing/2014/main" id="{D4995734-4041-468D-0E3A-5BD8EA0BC281}"/>
              </a:ext>
            </a:extLst>
          </p:cNvPr>
          <p:cNvSpPr/>
          <p:nvPr/>
        </p:nvSpPr>
        <p:spPr>
          <a:xfrm flipH="1" flipV="1">
            <a:off x="5682496" y="2973517"/>
            <a:ext cx="927922" cy="927921"/>
          </a:xfrm>
          <a:prstGeom prst="rect">
            <a:avLst/>
          </a:prstGeom>
          <a:solidFill>
            <a:schemeClr val="accent6"/>
          </a:solidFill>
          <a:ln>
            <a:noFill/>
          </a:ln>
          <a:scene3d>
            <a:camera prst="isometricOffAxis2Top">
              <a:rot lat="19200000" lon="3000000" rev="17820000"/>
            </a:camera>
            <a:lightRig rig="soft" dir="t"/>
          </a:scene3d>
          <a:sp3d extrusionH="260350" prstMaterial="plastic">
            <a:bevelT w="12700" h="38100"/>
            <a:extrusionClr>
              <a:schemeClr val="accent6"/>
            </a:extrusionClr>
            <a:contourClr>
              <a:schemeClr val="accent6"/>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49" name="Group 48">
            <a:extLst>
              <a:ext uri="{FF2B5EF4-FFF2-40B4-BE49-F238E27FC236}">
                <a16:creationId xmlns:a16="http://schemas.microsoft.com/office/drawing/2014/main" id="{B4A8267D-5B1E-1AD2-C2F3-0B0643A1E707}"/>
              </a:ext>
            </a:extLst>
          </p:cNvPr>
          <p:cNvGrpSpPr/>
          <p:nvPr/>
        </p:nvGrpSpPr>
        <p:grpSpPr>
          <a:xfrm>
            <a:off x="5676631" y="2318133"/>
            <a:ext cx="927922" cy="927922"/>
            <a:chOff x="1467313" y="1705637"/>
            <a:chExt cx="1476444" cy="1476444"/>
          </a:xfrm>
          <a:effectLst>
            <a:outerShdw blurRad="63500" sx="102000" sy="102000" algn="ctr" rotWithShape="0">
              <a:prstClr val="black">
                <a:alpha val="40000"/>
              </a:prstClr>
            </a:outerShdw>
          </a:effectLst>
        </p:grpSpPr>
        <p:sp>
          <p:nvSpPr>
            <p:cNvPr id="47" name="Teardrop 14">
              <a:extLst>
                <a:ext uri="{FF2B5EF4-FFF2-40B4-BE49-F238E27FC236}">
                  <a16:creationId xmlns:a16="http://schemas.microsoft.com/office/drawing/2014/main" id="{F526F218-E440-DB8D-0E62-D0A57AA8348C}"/>
                </a:ext>
              </a:extLst>
            </p:cNvPr>
            <p:cNvSpPr/>
            <p:nvPr/>
          </p:nvSpPr>
          <p:spPr>
            <a:xfrm rot="8100000">
              <a:off x="1467313" y="1705637"/>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48" name="Oval 47">
              <a:extLst>
                <a:ext uri="{FF2B5EF4-FFF2-40B4-BE49-F238E27FC236}">
                  <a16:creationId xmlns:a16="http://schemas.microsoft.com/office/drawing/2014/main" id="{D66D5E4D-F4E2-A994-0287-09C71E96952D}"/>
                </a:ext>
              </a:extLst>
            </p:cNvPr>
            <p:cNvSpPr/>
            <p:nvPr/>
          </p:nvSpPr>
          <p:spPr>
            <a:xfrm>
              <a:off x="1698639" y="1757663"/>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51" name="Frame 5">
            <a:extLst>
              <a:ext uri="{FF2B5EF4-FFF2-40B4-BE49-F238E27FC236}">
                <a16:creationId xmlns:a16="http://schemas.microsoft.com/office/drawing/2014/main" id="{1B1168B7-907B-3840-25A6-67C607ED6B46}"/>
              </a:ext>
            </a:extLst>
          </p:cNvPr>
          <p:cNvSpPr/>
          <p:nvPr/>
        </p:nvSpPr>
        <p:spPr>
          <a:xfrm flipH="1" flipV="1">
            <a:off x="4165855" y="2055816"/>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55" name="Group 54">
            <a:extLst>
              <a:ext uri="{FF2B5EF4-FFF2-40B4-BE49-F238E27FC236}">
                <a16:creationId xmlns:a16="http://schemas.microsoft.com/office/drawing/2014/main" id="{76A4FCEF-4BAF-C8CD-D34B-E5B084D49569}"/>
              </a:ext>
            </a:extLst>
          </p:cNvPr>
          <p:cNvGrpSpPr/>
          <p:nvPr/>
        </p:nvGrpSpPr>
        <p:grpSpPr>
          <a:xfrm>
            <a:off x="4163321" y="1396729"/>
            <a:ext cx="927922" cy="927922"/>
            <a:chOff x="3472880" y="3030096"/>
            <a:chExt cx="1476444" cy="1476444"/>
          </a:xfrm>
          <a:effectLst>
            <a:outerShdw blurRad="63500" sx="102000" sy="102000" algn="ctr" rotWithShape="0">
              <a:prstClr val="black">
                <a:alpha val="40000"/>
              </a:prstClr>
            </a:outerShdw>
          </a:effectLst>
        </p:grpSpPr>
        <p:sp>
          <p:nvSpPr>
            <p:cNvPr id="53" name="Teardrop 14">
              <a:extLst>
                <a:ext uri="{FF2B5EF4-FFF2-40B4-BE49-F238E27FC236}">
                  <a16:creationId xmlns:a16="http://schemas.microsoft.com/office/drawing/2014/main" id="{A9F25252-8F60-A7E0-4964-67095711664E}"/>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54" name="Oval 53">
              <a:extLst>
                <a:ext uri="{FF2B5EF4-FFF2-40B4-BE49-F238E27FC236}">
                  <a16:creationId xmlns:a16="http://schemas.microsoft.com/office/drawing/2014/main" id="{99918448-1150-110C-ABD0-1A2D6986CA04}"/>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pic>
        <p:nvPicPr>
          <p:cNvPr id="57" name="Picture 30">
            <a:extLst>
              <a:ext uri="{FF2B5EF4-FFF2-40B4-BE49-F238E27FC236}">
                <a16:creationId xmlns:a16="http://schemas.microsoft.com/office/drawing/2014/main" id="{D0441146-88E1-9C26-58F9-CEDFB3F13E57}"/>
              </a:ext>
            </a:extLst>
          </p:cNvPr>
          <p:cNvPicPr>
            <a:picLocks noChangeAspect="1"/>
          </p:cNvPicPr>
          <p:nvPr/>
        </p:nvPicPr>
        <p:blipFill>
          <a:blip r:embed="rId4"/>
          <a:stretch>
            <a:fillRect/>
          </a:stretch>
        </p:blipFill>
        <p:spPr>
          <a:xfrm>
            <a:off x="4496117" y="1566231"/>
            <a:ext cx="264319" cy="300038"/>
          </a:xfrm>
          <a:prstGeom prst="rect">
            <a:avLst/>
          </a:prstGeom>
        </p:spPr>
      </p:pic>
      <p:pic>
        <p:nvPicPr>
          <p:cNvPr id="59" name="Picture 58">
            <a:extLst>
              <a:ext uri="{FF2B5EF4-FFF2-40B4-BE49-F238E27FC236}">
                <a16:creationId xmlns:a16="http://schemas.microsoft.com/office/drawing/2014/main" id="{20F2C12A-736F-7592-6F5D-7D4A86E7708A}"/>
              </a:ext>
            </a:extLst>
          </p:cNvPr>
          <p:cNvPicPr>
            <a:picLocks noChangeAspect="1"/>
          </p:cNvPicPr>
          <p:nvPr/>
        </p:nvPicPr>
        <p:blipFill>
          <a:blip r:embed="rId5"/>
          <a:stretch>
            <a:fillRect/>
          </a:stretch>
        </p:blipFill>
        <p:spPr>
          <a:xfrm>
            <a:off x="5992160" y="2510726"/>
            <a:ext cx="288317" cy="268725"/>
          </a:xfrm>
          <a:prstGeom prst="rect">
            <a:avLst/>
          </a:prstGeom>
        </p:spPr>
      </p:pic>
      <p:pic>
        <p:nvPicPr>
          <p:cNvPr id="61" name="Picture 3">
            <a:extLst>
              <a:ext uri="{FF2B5EF4-FFF2-40B4-BE49-F238E27FC236}">
                <a16:creationId xmlns:a16="http://schemas.microsoft.com/office/drawing/2014/main" id="{DB5D6CC5-DF7F-91BF-DF36-6C0989C6B66D}"/>
              </a:ext>
            </a:extLst>
          </p:cNvPr>
          <p:cNvPicPr>
            <a:picLocks noChangeAspect="1"/>
          </p:cNvPicPr>
          <p:nvPr/>
        </p:nvPicPr>
        <p:blipFill>
          <a:blip r:embed="rId6"/>
          <a:stretch>
            <a:fillRect/>
          </a:stretch>
        </p:blipFill>
        <p:spPr>
          <a:xfrm>
            <a:off x="2940744" y="2390827"/>
            <a:ext cx="362199" cy="352425"/>
          </a:xfrm>
          <a:prstGeom prst="rect">
            <a:avLst/>
          </a:prstGeom>
        </p:spPr>
      </p:pic>
    </p:spTree>
    <p:extLst>
      <p:ext uri="{BB962C8B-B14F-4D97-AF65-F5344CB8AC3E}">
        <p14:creationId xmlns:p14="http://schemas.microsoft.com/office/powerpoint/2010/main" val="1419447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2"/>
          <p:cNvSpPr txBox="1">
            <a:spLocks noGrp="1"/>
          </p:cNvSpPr>
          <p:nvPr>
            <p:ph type="title"/>
          </p:nvPr>
        </p:nvSpPr>
        <p:spPr>
          <a:xfrm>
            <a:off x="284400" y="198000"/>
            <a:ext cx="8629200" cy="399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600"/>
              <a:buFont typeface="Arial"/>
              <a:buNone/>
            </a:pPr>
            <a:r>
              <a:rPr lang="de-DE"/>
              <a:t>Workflow</a:t>
            </a:r>
            <a:endParaRPr/>
          </a:p>
        </p:txBody>
      </p:sp>
      <p:sp>
        <p:nvSpPr>
          <p:cNvPr id="3" name="Rectangle 2">
            <a:extLst>
              <a:ext uri="{FF2B5EF4-FFF2-40B4-BE49-F238E27FC236}">
                <a16:creationId xmlns:a16="http://schemas.microsoft.com/office/drawing/2014/main" id="{73641FDF-63D2-0540-113C-3166B7C94482}"/>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5" name="TextBox 4">
            <a:extLst>
              <a:ext uri="{FF2B5EF4-FFF2-40B4-BE49-F238E27FC236}">
                <a16:creationId xmlns:a16="http://schemas.microsoft.com/office/drawing/2014/main" id="{CCE0140C-DCAD-7738-0409-4CFC10513311}"/>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
        <p:nvSpPr>
          <p:cNvPr id="8" name="Right Triangle 17">
            <a:extLst>
              <a:ext uri="{FF2B5EF4-FFF2-40B4-BE49-F238E27FC236}">
                <a16:creationId xmlns:a16="http://schemas.microsoft.com/office/drawing/2014/main" id="{AF85E3F1-36BC-CBA0-3C43-2B84C50C0867}"/>
              </a:ext>
            </a:extLst>
          </p:cNvPr>
          <p:cNvSpPr/>
          <p:nvPr/>
        </p:nvSpPr>
        <p:spPr>
          <a:xfrm>
            <a:off x="1535097" y="1608823"/>
            <a:ext cx="323038" cy="474675"/>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9" name="Right Triangle 17">
            <a:extLst>
              <a:ext uri="{FF2B5EF4-FFF2-40B4-BE49-F238E27FC236}">
                <a16:creationId xmlns:a16="http://schemas.microsoft.com/office/drawing/2014/main" id="{2D5A7892-9761-64A5-427B-AC082A354A72}"/>
              </a:ext>
            </a:extLst>
          </p:cNvPr>
          <p:cNvSpPr/>
          <p:nvPr/>
        </p:nvSpPr>
        <p:spPr>
          <a:xfrm>
            <a:off x="1445450" y="1608823"/>
            <a:ext cx="323038" cy="474675"/>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10" name="Rectangle: Rounded Corners 9">
            <a:extLst>
              <a:ext uri="{FF2B5EF4-FFF2-40B4-BE49-F238E27FC236}">
                <a16:creationId xmlns:a16="http://schemas.microsoft.com/office/drawing/2014/main" id="{398DCFE7-1BA6-F3ED-5447-147E46BB8878}"/>
              </a:ext>
            </a:extLst>
          </p:cNvPr>
          <p:cNvSpPr/>
          <p:nvPr/>
        </p:nvSpPr>
        <p:spPr>
          <a:xfrm>
            <a:off x="1117223" y="1258854"/>
            <a:ext cx="1064305" cy="1337295"/>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Oval 10">
            <a:extLst>
              <a:ext uri="{FF2B5EF4-FFF2-40B4-BE49-F238E27FC236}">
                <a16:creationId xmlns:a16="http://schemas.microsoft.com/office/drawing/2014/main" id="{D69739A9-2278-570C-F299-740D86856735}"/>
              </a:ext>
            </a:extLst>
          </p:cNvPr>
          <p:cNvSpPr/>
          <p:nvPr/>
        </p:nvSpPr>
        <p:spPr>
          <a:xfrm>
            <a:off x="1444875" y="1389931"/>
            <a:ext cx="433322" cy="4444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12" name="TextBox 3">
            <a:extLst>
              <a:ext uri="{FF2B5EF4-FFF2-40B4-BE49-F238E27FC236}">
                <a16:creationId xmlns:a16="http://schemas.microsoft.com/office/drawing/2014/main" id="{1CD59A43-64D2-9895-9854-FF86AC8E41EB}"/>
              </a:ext>
            </a:extLst>
          </p:cNvPr>
          <p:cNvSpPr txBox="1"/>
          <p:nvPr/>
        </p:nvSpPr>
        <p:spPr>
          <a:xfrm>
            <a:off x="920490" y="1991934"/>
            <a:ext cx="1463108" cy="461665"/>
          </a:xfrm>
          <a:prstGeom prst="rect">
            <a:avLst/>
          </a:prstGeom>
          <a:no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200" b="1">
                <a:solidFill>
                  <a:schemeClr val="bg1"/>
                </a:solidFill>
                <a:ea typeface="맑은 고딕"/>
                <a:cs typeface="Arial"/>
              </a:rPr>
              <a:t>Camera Calibration</a:t>
            </a:r>
            <a:endParaRPr lang="en-US">
              <a:solidFill>
                <a:schemeClr val="bg1"/>
              </a:solidFill>
            </a:endParaRPr>
          </a:p>
        </p:txBody>
      </p:sp>
      <p:sp>
        <p:nvSpPr>
          <p:cNvPr id="32" name="TextBox 3">
            <a:extLst>
              <a:ext uri="{FF2B5EF4-FFF2-40B4-BE49-F238E27FC236}">
                <a16:creationId xmlns:a16="http://schemas.microsoft.com/office/drawing/2014/main" id="{AF635352-EE6B-5E93-2884-37A81F965756}"/>
              </a:ext>
            </a:extLst>
          </p:cNvPr>
          <p:cNvSpPr txBox="1"/>
          <p:nvPr/>
        </p:nvSpPr>
        <p:spPr>
          <a:xfrm>
            <a:off x="5054941" y="5403499"/>
            <a:ext cx="1741015" cy="707886"/>
          </a:xfrm>
          <a:prstGeom prst="rect">
            <a:avLst/>
          </a:prstGeom>
          <a:no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a:solidFill>
                  <a:schemeClr val="bg1"/>
                </a:solidFill>
                <a:ea typeface="+mn-lt"/>
                <a:cs typeface="+mn-lt"/>
              </a:rPr>
              <a:t>Controller</a:t>
            </a:r>
            <a:endParaRPr lang="en-US"/>
          </a:p>
          <a:p>
            <a:pPr algn="ctr"/>
            <a:endParaRPr lang="en-US" altLang="ko-KR" sz="2000" b="1">
              <a:solidFill>
                <a:schemeClr val="bg1"/>
              </a:solidFill>
              <a:ea typeface="맑은 고딕"/>
              <a:cs typeface="Arial" pitchFamily="34" charset="0"/>
            </a:endParaRPr>
          </a:p>
        </p:txBody>
      </p:sp>
      <p:cxnSp>
        <p:nvCxnSpPr>
          <p:cNvPr id="60" name="Straight Arrow Connector 59">
            <a:extLst>
              <a:ext uri="{FF2B5EF4-FFF2-40B4-BE49-F238E27FC236}">
                <a16:creationId xmlns:a16="http://schemas.microsoft.com/office/drawing/2014/main" id="{A08FFB83-308A-1EC7-A1A9-C67721A9140D}"/>
              </a:ext>
            </a:extLst>
          </p:cNvPr>
          <p:cNvCxnSpPr/>
          <p:nvPr/>
        </p:nvCxnSpPr>
        <p:spPr>
          <a:xfrm>
            <a:off x="8297166" y="5854398"/>
            <a:ext cx="0" cy="400050"/>
          </a:xfrm>
          <a:prstGeom prst="straightConnector1">
            <a:avLst/>
          </a:prstGeom>
          <a:ln>
            <a:solidFill>
              <a:srgbClr val="183B65"/>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848B6D8-D10E-8288-D80B-CFF11A8F62EE}"/>
              </a:ext>
            </a:extLst>
          </p:cNvPr>
          <p:cNvCxnSpPr>
            <a:cxnSpLocks/>
          </p:cNvCxnSpPr>
          <p:nvPr/>
        </p:nvCxnSpPr>
        <p:spPr>
          <a:xfrm>
            <a:off x="11535666" y="1806273"/>
            <a:ext cx="9525" cy="4448175"/>
          </a:xfrm>
          <a:prstGeom prst="straightConnector1">
            <a:avLst/>
          </a:prstGeom>
          <a:ln>
            <a:solidFill>
              <a:schemeClr val="accent3">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63" name="TextBox 1">
            <a:extLst>
              <a:ext uri="{FF2B5EF4-FFF2-40B4-BE49-F238E27FC236}">
                <a16:creationId xmlns:a16="http://schemas.microsoft.com/office/drawing/2014/main" id="{9DAA4933-841E-DD01-8B0E-51996AAE10F7}"/>
              </a:ext>
            </a:extLst>
          </p:cNvPr>
          <p:cNvSpPr txBox="1"/>
          <p:nvPr/>
        </p:nvSpPr>
        <p:spPr>
          <a:xfrm>
            <a:off x="8954405" y="5826725"/>
            <a:ext cx="367408" cy="523220"/>
          </a:xfrm>
          <a:prstGeom prst="rect">
            <a:avLst/>
          </a:prstGeom>
          <a:no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ko-KR" sz="2800" b="1">
                <a:solidFill>
                  <a:srgbClr val="76923C"/>
                </a:solidFill>
                <a:ea typeface="맑은 고딕"/>
                <a:cs typeface="Arial"/>
              </a:rPr>
              <a:t>8</a:t>
            </a:r>
            <a:endParaRPr lang="en-US" altLang="ko-KR"/>
          </a:p>
        </p:txBody>
      </p:sp>
      <p:pic>
        <p:nvPicPr>
          <p:cNvPr id="66" name="Picture 66" descr="A picture containing yellow&#10;&#10;Description automatically generated">
            <a:extLst>
              <a:ext uri="{FF2B5EF4-FFF2-40B4-BE49-F238E27FC236}">
                <a16:creationId xmlns:a16="http://schemas.microsoft.com/office/drawing/2014/main" id="{B15BDD83-F843-5BD9-D00C-92C6664CFF9D}"/>
              </a:ext>
            </a:extLst>
          </p:cNvPr>
          <p:cNvPicPr>
            <a:picLocks noChangeAspect="1"/>
          </p:cNvPicPr>
          <p:nvPr/>
        </p:nvPicPr>
        <p:blipFill>
          <a:blip r:embed="rId3"/>
          <a:stretch>
            <a:fillRect/>
          </a:stretch>
        </p:blipFill>
        <p:spPr>
          <a:xfrm>
            <a:off x="5011829" y="3347440"/>
            <a:ext cx="1461591" cy="1453885"/>
          </a:xfrm>
          <a:prstGeom prst="rect">
            <a:avLst/>
          </a:prstGeom>
        </p:spPr>
      </p:pic>
      <p:sp>
        <p:nvSpPr>
          <p:cNvPr id="67" name="Right Triangle 17">
            <a:extLst>
              <a:ext uri="{FF2B5EF4-FFF2-40B4-BE49-F238E27FC236}">
                <a16:creationId xmlns:a16="http://schemas.microsoft.com/office/drawing/2014/main" id="{7DB1725E-89D3-3944-9A95-D79172EDF70B}"/>
              </a:ext>
            </a:extLst>
          </p:cNvPr>
          <p:cNvSpPr/>
          <p:nvPr/>
        </p:nvSpPr>
        <p:spPr>
          <a:xfrm>
            <a:off x="4367835" y="1587092"/>
            <a:ext cx="323038" cy="474675"/>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68" name="Right Triangle 17">
            <a:extLst>
              <a:ext uri="{FF2B5EF4-FFF2-40B4-BE49-F238E27FC236}">
                <a16:creationId xmlns:a16="http://schemas.microsoft.com/office/drawing/2014/main" id="{57CE9E03-7891-2F9C-9878-87E68718F8CA}"/>
              </a:ext>
            </a:extLst>
          </p:cNvPr>
          <p:cNvSpPr/>
          <p:nvPr/>
        </p:nvSpPr>
        <p:spPr>
          <a:xfrm>
            <a:off x="4278216" y="1587092"/>
            <a:ext cx="323038" cy="474675"/>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69" name="Rectangle: Rounded Corners 68">
            <a:extLst>
              <a:ext uri="{FF2B5EF4-FFF2-40B4-BE49-F238E27FC236}">
                <a16:creationId xmlns:a16="http://schemas.microsoft.com/office/drawing/2014/main" id="{D910DEDE-EAFA-144C-851C-7F31D2826D4B}"/>
              </a:ext>
            </a:extLst>
          </p:cNvPr>
          <p:cNvSpPr/>
          <p:nvPr/>
        </p:nvSpPr>
        <p:spPr>
          <a:xfrm>
            <a:off x="3950093" y="1237123"/>
            <a:ext cx="1064305" cy="133729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0" name="Oval 69">
            <a:extLst>
              <a:ext uri="{FF2B5EF4-FFF2-40B4-BE49-F238E27FC236}">
                <a16:creationId xmlns:a16="http://schemas.microsoft.com/office/drawing/2014/main" id="{449284F3-50A4-F422-E018-704978BC17B7}"/>
              </a:ext>
            </a:extLst>
          </p:cNvPr>
          <p:cNvSpPr/>
          <p:nvPr/>
        </p:nvSpPr>
        <p:spPr>
          <a:xfrm>
            <a:off x="4277641" y="1368200"/>
            <a:ext cx="433322" cy="4444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72" name="Arrow: Down 71">
            <a:extLst>
              <a:ext uri="{FF2B5EF4-FFF2-40B4-BE49-F238E27FC236}">
                <a16:creationId xmlns:a16="http://schemas.microsoft.com/office/drawing/2014/main" id="{F2A8ECE2-DC17-7AA7-4B6B-701592DED865}"/>
              </a:ext>
            </a:extLst>
          </p:cNvPr>
          <p:cNvSpPr/>
          <p:nvPr/>
        </p:nvSpPr>
        <p:spPr>
          <a:xfrm rot="16200000">
            <a:off x="2805187" y="1446351"/>
            <a:ext cx="484632" cy="978408"/>
          </a:xfrm>
          <a:prstGeom prst="downArrow">
            <a:avLst/>
          </a:prstGeom>
          <a:noFill/>
          <a:ln w="19050">
            <a:solidFill>
              <a:srgbClr val="183B6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3" name="Right Triangle 17">
            <a:extLst>
              <a:ext uri="{FF2B5EF4-FFF2-40B4-BE49-F238E27FC236}">
                <a16:creationId xmlns:a16="http://schemas.microsoft.com/office/drawing/2014/main" id="{A9801375-C149-D969-D167-B2FBA9A11085}"/>
              </a:ext>
            </a:extLst>
          </p:cNvPr>
          <p:cNvSpPr/>
          <p:nvPr/>
        </p:nvSpPr>
        <p:spPr>
          <a:xfrm>
            <a:off x="7199664" y="1608821"/>
            <a:ext cx="323038" cy="474675"/>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74" name="Right Triangle 17">
            <a:extLst>
              <a:ext uri="{FF2B5EF4-FFF2-40B4-BE49-F238E27FC236}">
                <a16:creationId xmlns:a16="http://schemas.microsoft.com/office/drawing/2014/main" id="{2A5AC5F0-332C-DD2B-2798-61BB15116302}"/>
              </a:ext>
            </a:extLst>
          </p:cNvPr>
          <p:cNvSpPr/>
          <p:nvPr/>
        </p:nvSpPr>
        <p:spPr>
          <a:xfrm>
            <a:off x="7110073" y="1608821"/>
            <a:ext cx="323038" cy="474675"/>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75" name="Rectangle: Rounded Corners 74">
            <a:extLst>
              <a:ext uri="{FF2B5EF4-FFF2-40B4-BE49-F238E27FC236}">
                <a16:creationId xmlns:a16="http://schemas.microsoft.com/office/drawing/2014/main" id="{582313E2-3D08-E660-AAAC-409BA2ED2B45}"/>
              </a:ext>
            </a:extLst>
          </p:cNvPr>
          <p:cNvSpPr/>
          <p:nvPr/>
        </p:nvSpPr>
        <p:spPr>
          <a:xfrm>
            <a:off x="6782054" y="1258852"/>
            <a:ext cx="1064305" cy="133729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6" name="Oval 75">
            <a:extLst>
              <a:ext uri="{FF2B5EF4-FFF2-40B4-BE49-F238E27FC236}">
                <a16:creationId xmlns:a16="http://schemas.microsoft.com/office/drawing/2014/main" id="{3095F261-5E8C-A5F0-1ACF-B131D22ACE61}"/>
              </a:ext>
            </a:extLst>
          </p:cNvPr>
          <p:cNvSpPr/>
          <p:nvPr/>
        </p:nvSpPr>
        <p:spPr>
          <a:xfrm>
            <a:off x="7109498" y="1389929"/>
            <a:ext cx="433322" cy="4444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0"/>
          </a:p>
        </p:txBody>
      </p:sp>
      <p:sp>
        <p:nvSpPr>
          <p:cNvPr id="77" name="Arrow: Down 76">
            <a:extLst>
              <a:ext uri="{FF2B5EF4-FFF2-40B4-BE49-F238E27FC236}">
                <a16:creationId xmlns:a16="http://schemas.microsoft.com/office/drawing/2014/main" id="{0A7FD22E-472B-1893-3AD8-4B54DD37C864}"/>
              </a:ext>
            </a:extLst>
          </p:cNvPr>
          <p:cNvSpPr/>
          <p:nvPr/>
        </p:nvSpPr>
        <p:spPr>
          <a:xfrm rot="16200000">
            <a:off x="5637511" y="1468080"/>
            <a:ext cx="484632" cy="978408"/>
          </a:xfrm>
          <a:prstGeom prst="downArrow">
            <a:avLst/>
          </a:prstGeom>
          <a:noFill/>
          <a:ln w="19050">
            <a:solidFill>
              <a:srgbClr val="183B6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0" name="Arrow: Down 79">
            <a:extLst>
              <a:ext uri="{FF2B5EF4-FFF2-40B4-BE49-F238E27FC236}">
                <a16:creationId xmlns:a16="http://schemas.microsoft.com/office/drawing/2014/main" id="{AC1B855C-D601-E4E9-0656-A26FC3E16BD8}"/>
              </a:ext>
            </a:extLst>
          </p:cNvPr>
          <p:cNvSpPr/>
          <p:nvPr/>
        </p:nvSpPr>
        <p:spPr>
          <a:xfrm rot="2520000">
            <a:off x="6606807" y="2757396"/>
            <a:ext cx="484632" cy="978408"/>
          </a:xfrm>
          <a:prstGeom prst="downArrow">
            <a:avLst/>
          </a:prstGeom>
          <a:noFill/>
          <a:ln w="19050">
            <a:solidFill>
              <a:srgbClr val="183B6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1" name="TextBox 3">
            <a:extLst>
              <a:ext uri="{FF2B5EF4-FFF2-40B4-BE49-F238E27FC236}">
                <a16:creationId xmlns:a16="http://schemas.microsoft.com/office/drawing/2014/main" id="{15076072-7DBD-EEFD-BD1B-290390AAD0FE}"/>
              </a:ext>
            </a:extLst>
          </p:cNvPr>
          <p:cNvSpPr txBox="1"/>
          <p:nvPr/>
        </p:nvSpPr>
        <p:spPr>
          <a:xfrm>
            <a:off x="3810364" y="2042635"/>
            <a:ext cx="1463108" cy="461665"/>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ko-KR" sz="1200" b="1">
                <a:solidFill>
                  <a:schemeClr val="bg1"/>
                </a:solidFill>
                <a:ea typeface="맑은 고딕"/>
                <a:cs typeface="Arial"/>
              </a:rPr>
              <a:t>Pose </a:t>
            </a:r>
            <a:br>
              <a:rPr lang="en-US" altLang="ko-KR" sz="1200" b="1">
                <a:solidFill>
                  <a:schemeClr val="bg1"/>
                </a:solidFill>
                <a:ea typeface="맑은 고딕"/>
                <a:cs typeface="Arial"/>
              </a:rPr>
            </a:br>
            <a:r>
              <a:rPr lang="en-US" altLang="ko-KR" sz="1200" b="1">
                <a:solidFill>
                  <a:schemeClr val="bg1"/>
                </a:solidFill>
                <a:ea typeface="맑은 고딕"/>
                <a:cs typeface="Arial"/>
              </a:rPr>
              <a:t>Estimation    </a:t>
            </a:r>
          </a:p>
        </p:txBody>
      </p:sp>
      <p:sp>
        <p:nvSpPr>
          <p:cNvPr id="82" name="TextBox 3">
            <a:extLst>
              <a:ext uri="{FF2B5EF4-FFF2-40B4-BE49-F238E27FC236}">
                <a16:creationId xmlns:a16="http://schemas.microsoft.com/office/drawing/2014/main" id="{A7A9F62F-2237-8E79-7230-D6D741FB78CE}"/>
              </a:ext>
            </a:extLst>
          </p:cNvPr>
          <p:cNvSpPr txBox="1"/>
          <p:nvPr/>
        </p:nvSpPr>
        <p:spPr>
          <a:xfrm>
            <a:off x="6584404" y="2136798"/>
            <a:ext cx="1463108" cy="276999"/>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ko-KR" sz="1200" b="1">
                <a:solidFill>
                  <a:schemeClr val="bg1"/>
                </a:solidFill>
                <a:ea typeface="맑은 고딕"/>
              </a:rPr>
              <a:t>Controller</a:t>
            </a:r>
            <a:endParaRPr lang="en-US">
              <a:solidFill>
                <a:schemeClr val="bg1"/>
              </a:solidFill>
            </a:endParaRPr>
          </a:p>
        </p:txBody>
      </p:sp>
      <p:sp>
        <p:nvSpPr>
          <p:cNvPr id="83" name="Oval 82">
            <a:extLst>
              <a:ext uri="{FF2B5EF4-FFF2-40B4-BE49-F238E27FC236}">
                <a16:creationId xmlns:a16="http://schemas.microsoft.com/office/drawing/2014/main" id="{FFE5736E-B2EF-730D-1ADC-B48A1DB6F892}"/>
              </a:ext>
            </a:extLst>
          </p:cNvPr>
          <p:cNvSpPr/>
          <p:nvPr/>
        </p:nvSpPr>
        <p:spPr>
          <a:xfrm>
            <a:off x="2635724" y="3476805"/>
            <a:ext cx="1050285" cy="985095"/>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cs typeface="Arial"/>
              </a:rPr>
              <a:t>Current State</a:t>
            </a:r>
          </a:p>
        </p:txBody>
      </p:sp>
      <p:sp>
        <p:nvSpPr>
          <p:cNvPr id="84" name="Arrow: Down 83">
            <a:extLst>
              <a:ext uri="{FF2B5EF4-FFF2-40B4-BE49-F238E27FC236}">
                <a16:creationId xmlns:a16="http://schemas.microsoft.com/office/drawing/2014/main" id="{A49979F8-9489-DFE0-BA98-E289C620A118}"/>
              </a:ext>
            </a:extLst>
          </p:cNvPr>
          <p:cNvSpPr/>
          <p:nvPr/>
        </p:nvSpPr>
        <p:spPr>
          <a:xfrm rot="5400000">
            <a:off x="4121552" y="3626596"/>
            <a:ext cx="484632" cy="978408"/>
          </a:xfrm>
          <a:prstGeom prst="downArrow">
            <a:avLst/>
          </a:prstGeom>
          <a:noFill/>
          <a:ln w="19050">
            <a:solidFill>
              <a:srgbClr val="183B6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5" name="Arrow: Down 84">
            <a:extLst>
              <a:ext uri="{FF2B5EF4-FFF2-40B4-BE49-F238E27FC236}">
                <a16:creationId xmlns:a16="http://schemas.microsoft.com/office/drawing/2014/main" id="{2FE8E56F-E9F3-41B0-0E11-86A85C77CFA5}"/>
              </a:ext>
            </a:extLst>
          </p:cNvPr>
          <p:cNvSpPr/>
          <p:nvPr/>
        </p:nvSpPr>
        <p:spPr>
          <a:xfrm rot="13140000">
            <a:off x="3358815" y="2431444"/>
            <a:ext cx="484632" cy="978408"/>
          </a:xfrm>
          <a:prstGeom prst="downArrow">
            <a:avLst/>
          </a:prstGeom>
          <a:noFill/>
          <a:ln w="19050">
            <a:solidFill>
              <a:srgbClr val="183B6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86" name="Picture 86">
            <a:extLst>
              <a:ext uri="{FF2B5EF4-FFF2-40B4-BE49-F238E27FC236}">
                <a16:creationId xmlns:a16="http://schemas.microsoft.com/office/drawing/2014/main" id="{3E3CA39F-0DAB-570E-7412-B88838714FF7}"/>
              </a:ext>
            </a:extLst>
          </p:cNvPr>
          <p:cNvPicPr>
            <a:picLocks noChangeAspect="1"/>
          </p:cNvPicPr>
          <p:nvPr/>
        </p:nvPicPr>
        <p:blipFill>
          <a:blip r:embed="rId4"/>
          <a:stretch>
            <a:fillRect/>
          </a:stretch>
        </p:blipFill>
        <p:spPr>
          <a:xfrm>
            <a:off x="1512620" y="1469567"/>
            <a:ext cx="279682" cy="284157"/>
          </a:xfrm>
          <a:prstGeom prst="rect">
            <a:avLst/>
          </a:prstGeom>
        </p:spPr>
      </p:pic>
      <p:pic>
        <p:nvPicPr>
          <p:cNvPr id="87" name="Picture 87">
            <a:extLst>
              <a:ext uri="{FF2B5EF4-FFF2-40B4-BE49-F238E27FC236}">
                <a16:creationId xmlns:a16="http://schemas.microsoft.com/office/drawing/2014/main" id="{7A012996-D929-A723-6910-954AEF9749DB}"/>
              </a:ext>
            </a:extLst>
          </p:cNvPr>
          <p:cNvPicPr>
            <a:picLocks noChangeAspect="1"/>
          </p:cNvPicPr>
          <p:nvPr/>
        </p:nvPicPr>
        <p:blipFill>
          <a:blip r:embed="rId5"/>
          <a:stretch>
            <a:fillRect/>
          </a:stretch>
        </p:blipFill>
        <p:spPr>
          <a:xfrm>
            <a:off x="7168386" y="1471052"/>
            <a:ext cx="285841" cy="266700"/>
          </a:xfrm>
          <a:prstGeom prst="rect">
            <a:avLst/>
          </a:prstGeom>
        </p:spPr>
      </p:pic>
      <p:pic>
        <p:nvPicPr>
          <p:cNvPr id="88" name="Picture 88">
            <a:extLst>
              <a:ext uri="{FF2B5EF4-FFF2-40B4-BE49-F238E27FC236}">
                <a16:creationId xmlns:a16="http://schemas.microsoft.com/office/drawing/2014/main" id="{58A20543-7959-6958-E3E5-97566512FE00}"/>
              </a:ext>
            </a:extLst>
          </p:cNvPr>
          <p:cNvPicPr>
            <a:picLocks noChangeAspect="1"/>
          </p:cNvPicPr>
          <p:nvPr/>
        </p:nvPicPr>
        <p:blipFill>
          <a:blip r:embed="rId6"/>
          <a:stretch>
            <a:fillRect/>
          </a:stretch>
        </p:blipFill>
        <p:spPr>
          <a:xfrm>
            <a:off x="4321447" y="1466688"/>
            <a:ext cx="335365" cy="2899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fade">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2"/>
                                        </p:tgtEl>
                                        <p:attrNameLst>
                                          <p:attrName>style.visibility</p:attrName>
                                        </p:attrNameLst>
                                      </p:cBhvr>
                                      <p:to>
                                        <p:strVal val="visible"/>
                                      </p:to>
                                    </p:set>
                                    <p:anim calcmode="lin" valueType="num">
                                      <p:cBhvr additive="base">
                                        <p:cTn id="17" dur="500" fill="hold"/>
                                        <p:tgtEl>
                                          <p:spTgt spid="72"/>
                                        </p:tgtEl>
                                        <p:attrNameLst>
                                          <p:attrName>ppt_x</p:attrName>
                                        </p:attrNameLst>
                                      </p:cBhvr>
                                      <p:tavLst>
                                        <p:tav tm="0">
                                          <p:val>
                                            <p:strVal val="0-#ppt_w/2"/>
                                          </p:val>
                                        </p:tav>
                                        <p:tav tm="100000">
                                          <p:val>
                                            <p:strVal val="#ppt_x"/>
                                          </p:val>
                                        </p:tav>
                                      </p:tavLst>
                                    </p:anim>
                                    <p:anim calcmode="lin" valueType="num">
                                      <p:cBhvr additive="base">
                                        <p:cTn id="18" dur="500" fill="hold"/>
                                        <p:tgtEl>
                                          <p:spTgt spid="7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500"/>
                                        <p:tgtEl>
                                          <p:spTgt spid="6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88"/>
                                        </p:tgtEl>
                                        <p:attrNameLst>
                                          <p:attrName>style.visibility</p:attrName>
                                        </p:attrNameLst>
                                      </p:cBhvr>
                                      <p:to>
                                        <p:strVal val="visible"/>
                                      </p:to>
                                    </p:set>
                                    <p:anim calcmode="lin" valueType="num">
                                      <p:cBhvr additive="base">
                                        <p:cTn id="28" dur="500" fill="hold"/>
                                        <p:tgtEl>
                                          <p:spTgt spid="88"/>
                                        </p:tgtEl>
                                        <p:attrNameLst>
                                          <p:attrName>ppt_x</p:attrName>
                                        </p:attrNameLst>
                                      </p:cBhvr>
                                      <p:tavLst>
                                        <p:tav tm="0">
                                          <p:val>
                                            <p:strVal val="#ppt_x"/>
                                          </p:val>
                                        </p:tav>
                                        <p:tav tm="100000">
                                          <p:val>
                                            <p:strVal val="#ppt_x"/>
                                          </p:val>
                                        </p:tav>
                                      </p:tavLst>
                                    </p:anim>
                                    <p:anim calcmode="lin" valueType="num">
                                      <p:cBhvr additive="base">
                                        <p:cTn id="29" dur="500" fill="hold"/>
                                        <p:tgtEl>
                                          <p:spTgt spid="8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additive="base">
                                        <p:cTn id="34" dur="500" fill="hold"/>
                                        <p:tgtEl>
                                          <p:spTgt spid="77"/>
                                        </p:tgtEl>
                                        <p:attrNameLst>
                                          <p:attrName>ppt_x</p:attrName>
                                        </p:attrNameLst>
                                      </p:cBhvr>
                                      <p:tavLst>
                                        <p:tav tm="0">
                                          <p:val>
                                            <p:strVal val="0-#ppt_w/2"/>
                                          </p:val>
                                        </p:tav>
                                        <p:tav tm="100000">
                                          <p:val>
                                            <p:strVal val="#ppt_x"/>
                                          </p:val>
                                        </p:tav>
                                      </p:tavLst>
                                    </p:anim>
                                    <p:anim calcmode="lin" valueType="num">
                                      <p:cBhvr additive="base">
                                        <p:cTn id="35"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75"/>
                                        </p:tgtEl>
                                        <p:attrNameLst>
                                          <p:attrName>style.visibility</p:attrName>
                                        </p:attrNameLst>
                                      </p:cBhvr>
                                      <p:to>
                                        <p:strVal val="visible"/>
                                      </p:to>
                                    </p:set>
                                    <p:animEffect transition="in" filter="randombar(horizontal)">
                                      <p:cBhvr>
                                        <p:cTn id="40" dur="500"/>
                                        <p:tgtEl>
                                          <p:spTgt spid="7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87"/>
                                        </p:tgtEl>
                                        <p:attrNameLst>
                                          <p:attrName>style.visibility</p:attrName>
                                        </p:attrNameLst>
                                      </p:cBhvr>
                                      <p:to>
                                        <p:strVal val="visible"/>
                                      </p:to>
                                    </p:set>
                                    <p:animEffect transition="in" filter="fade">
                                      <p:cBhvr>
                                        <p:cTn id="45" dur="500"/>
                                        <p:tgtEl>
                                          <p:spTgt spid="87"/>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3" fill="hold" grpId="0" nodeType="clickEffect">
                                  <p:stCondLst>
                                    <p:cond delay="0"/>
                                  </p:stCondLst>
                                  <p:childTnLst>
                                    <p:set>
                                      <p:cBhvr>
                                        <p:cTn id="49" dur="1" fill="hold">
                                          <p:stCondLst>
                                            <p:cond delay="0"/>
                                          </p:stCondLst>
                                        </p:cTn>
                                        <p:tgtEl>
                                          <p:spTgt spid="80"/>
                                        </p:tgtEl>
                                        <p:attrNameLst>
                                          <p:attrName>style.visibility</p:attrName>
                                        </p:attrNameLst>
                                      </p:cBhvr>
                                      <p:to>
                                        <p:strVal val="visible"/>
                                      </p:to>
                                    </p:set>
                                    <p:anim calcmode="lin" valueType="num">
                                      <p:cBhvr additive="base">
                                        <p:cTn id="50" dur="500" fill="hold"/>
                                        <p:tgtEl>
                                          <p:spTgt spid="80"/>
                                        </p:tgtEl>
                                        <p:attrNameLst>
                                          <p:attrName>ppt_x</p:attrName>
                                        </p:attrNameLst>
                                      </p:cBhvr>
                                      <p:tavLst>
                                        <p:tav tm="0">
                                          <p:val>
                                            <p:strVal val="1+#ppt_w/2"/>
                                          </p:val>
                                        </p:tav>
                                        <p:tav tm="100000">
                                          <p:val>
                                            <p:strVal val="#ppt_x"/>
                                          </p:val>
                                        </p:tav>
                                      </p:tavLst>
                                    </p:anim>
                                    <p:anim calcmode="lin" valueType="num">
                                      <p:cBhvr additive="base">
                                        <p:cTn id="51" dur="500" fill="hold"/>
                                        <p:tgtEl>
                                          <p:spTgt spid="80"/>
                                        </p:tgtEl>
                                        <p:attrNameLst>
                                          <p:attrName>ppt_y</p:attrName>
                                        </p:attrNameLst>
                                      </p:cBhvr>
                                      <p:tavLst>
                                        <p:tav tm="0">
                                          <p:val>
                                            <p:strVal val="0-#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7" presetClass="entr" presetSubtype="0" fill="hold" nodeType="clickEffect">
                                  <p:stCondLst>
                                    <p:cond delay="0"/>
                                  </p:stCondLst>
                                  <p:childTnLst>
                                    <p:set>
                                      <p:cBhvr>
                                        <p:cTn id="55" dur="1" fill="hold">
                                          <p:stCondLst>
                                            <p:cond delay="0"/>
                                          </p:stCondLst>
                                        </p:cTn>
                                        <p:tgtEl>
                                          <p:spTgt spid="66"/>
                                        </p:tgtEl>
                                        <p:attrNameLst>
                                          <p:attrName>style.visibility</p:attrName>
                                        </p:attrNameLst>
                                      </p:cBhvr>
                                      <p:to>
                                        <p:strVal val="visible"/>
                                      </p:to>
                                    </p:set>
                                    <p:animEffect transition="in" filter="fade">
                                      <p:cBhvr>
                                        <p:cTn id="56" dur="1000"/>
                                        <p:tgtEl>
                                          <p:spTgt spid="66"/>
                                        </p:tgtEl>
                                      </p:cBhvr>
                                    </p:animEffect>
                                    <p:anim calcmode="lin" valueType="num">
                                      <p:cBhvr>
                                        <p:cTn id="57" dur="1000" fill="hold"/>
                                        <p:tgtEl>
                                          <p:spTgt spid="66"/>
                                        </p:tgtEl>
                                        <p:attrNameLst>
                                          <p:attrName>ppt_x</p:attrName>
                                        </p:attrNameLst>
                                      </p:cBhvr>
                                      <p:tavLst>
                                        <p:tav tm="0">
                                          <p:val>
                                            <p:strVal val="#ppt_x"/>
                                          </p:val>
                                        </p:tav>
                                        <p:tav tm="100000">
                                          <p:val>
                                            <p:strVal val="#ppt_x"/>
                                          </p:val>
                                        </p:tav>
                                      </p:tavLst>
                                    </p:anim>
                                    <p:anim calcmode="lin" valueType="num">
                                      <p:cBhvr>
                                        <p:cTn id="58" dur="900" decel="100000" fill="hold"/>
                                        <p:tgtEl>
                                          <p:spTgt spid="66"/>
                                        </p:tgtEl>
                                        <p:attrNameLst>
                                          <p:attrName>ppt_y</p:attrName>
                                        </p:attrNameLst>
                                      </p:cBhvr>
                                      <p:tavLst>
                                        <p:tav tm="0">
                                          <p:val>
                                            <p:strVal val="#ppt_y+1"/>
                                          </p:val>
                                        </p:tav>
                                        <p:tav tm="100000">
                                          <p:val>
                                            <p:strVal val="#ppt_y-.03"/>
                                          </p:val>
                                        </p:tav>
                                      </p:tavLst>
                                    </p:anim>
                                    <p:anim calcmode="lin" valueType="num">
                                      <p:cBhvr>
                                        <p:cTn id="59" dur="100" accel="100000" fill="hold">
                                          <p:stCondLst>
                                            <p:cond delay="900"/>
                                          </p:stCondLst>
                                        </p:cTn>
                                        <p:tgtEl>
                                          <p:spTgt spid="66"/>
                                        </p:tgtEl>
                                        <p:attrNameLst>
                                          <p:attrName>ppt_y</p:attrName>
                                        </p:attrNameLst>
                                      </p:cBhvr>
                                      <p:tavLst>
                                        <p:tav tm="0">
                                          <p:val>
                                            <p:strVal val="#ppt_y-.03"/>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84"/>
                                        </p:tgtEl>
                                        <p:attrNameLst>
                                          <p:attrName>style.visibility</p:attrName>
                                        </p:attrNameLst>
                                      </p:cBhvr>
                                      <p:to>
                                        <p:strVal val="visible"/>
                                      </p:to>
                                    </p:set>
                                    <p:anim calcmode="lin" valueType="num">
                                      <p:cBhvr additive="base">
                                        <p:cTn id="64" dur="500" fill="hold"/>
                                        <p:tgtEl>
                                          <p:spTgt spid="84"/>
                                        </p:tgtEl>
                                        <p:attrNameLst>
                                          <p:attrName>ppt_x</p:attrName>
                                        </p:attrNameLst>
                                      </p:cBhvr>
                                      <p:tavLst>
                                        <p:tav tm="0">
                                          <p:val>
                                            <p:strVal val="1+#ppt_w/2"/>
                                          </p:val>
                                        </p:tav>
                                        <p:tav tm="100000">
                                          <p:val>
                                            <p:strVal val="#ppt_x"/>
                                          </p:val>
                                        </p:tav>
                                      </p:tavLst>
                                    </p:anim>
                                    <p:anim calcmode="lin" valueType="num">
                                      <p:cBhvr additive="base">
                                        <p:cTn id="65"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83"/>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 presetClass="entr" presetSubtype="12" fill="hold" grpId="0" nodeType="clickEffect">
                                  <p:stCondLst>
                                    <p:cond delay="0"/>
                                  </p:stCondLst>
                                  <p:childTnLst>
                                    <p:set>
                                      <p:cBhvr>
                                        <p:cTn id="73" dur="1" fill="hold">
                                          <p:stCondLst>
                                            <p:cond delay="0"/>
                                          </p:stCondLst>
                                        </p:cTn>
                                        <p:tgtEl>
                                          <p:spTgt spid="85"/>
                                        </p:tgtEl>
                                        <p:attrNameLst>
                                          <p:attrName>style.visibility</p:attrName>
                                        </p:attrNameLst>
                                      </p:cBhvr>
                                      <p:to>
                                        <p:strVal val="visible"/>
                                      </p:to>
                                    </p:set>
                                    <p:anim calcmode="lin" valueType="num">
                                      <p:cBhvr additive="base">
                                        <p:cTn id="74" dur="500" fill="hold"/>
                                        <p:tgtEl>
                                          <p:spTgt spid="85"/>
                                        </p:tgtEl>
                                        <p:attrNameLst>
                                          <p:attrName>ppt_x</p:attrName>
                                        </p:attrNameLst>
                                      </p:cBhvr>
                                      <p:tavLst>
                                        <p:tav tm="0">
                                          <p:val>
                                            <p:strVal val="0-#ppt_w/2"/>
                                          </p:val>
                                        </p:tav>
                                        <p:tav tm="100000">
                                          <p:val>
                                            <p:strVal val="#ppt_x"/>
                                          </p:val>
                                        </p:tav>
                                      </p:tavLst>
                                    </p:anim>
                                    <p:anim calcmode="lin" valueType="num">
                                      <p:cBhvr additive="base">
                                        <p:cTn id="75"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9" grpId="0" animBg="1"/>
      <p:bldP spid="72" grpId="0" animBg="1"/>
      <p:bldP spid="75" grpId="0" animBg="1"/>
      <p:bldP spid="77" grpId="0" animBg="1"/>
      <p:bldP spid="80" grpId="0" animBg="1"/>
      <p:bldP spid="83" grpId="0" animBg="1"/>
      <p:bldP spid="84" grpId="0" animBg="1"/>
      <p:bldP spid="8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g20528881256_0_12"/>
          <p:cNvSpPr txBox="1">
            <a:spLocks noGrp="1"/>
          </p:cNvSpPr>
          <p:nvPr>
            <p:ph type="title"/>
          </p:nvPr>
        </p:nvSpPr>
        <p:spPr>
          <a:xfrm>
            <a:off x="284400" y="198000"/>
            <a:ext cx="8629200" cy="399600"/>
          </a:xfrm>
          <a:prstGeom prst="rect">
            <a:avLst/>
          </a:prstGeom>
        </p:spPr>
        <p:txBody>
          <a:bodyPr spcFirstLastPara="1" wrap="square" lIns="91425" tIns="45700" rIns="91425" bIns="45700" anchor="ctr" anchorCtr="0">
            <a:noAutofit/>
          </a:bodyPr>
          <a:lstStyle/>
          <a:p>
            <a:r>
              <a:rPr lang="de-DE"/>
              <a:t> </a:t>
            </a:r>
            <a:r>
              <a:rPr lang="de-DE" err="1"/>
              <a:t>Why</a:t>
            </a:r>
            <a:r>
              <a:rPr lang="de-DE"/>
              <a:t> Simulation ?</a:t>
            </a:r>
          </a:p>
        </p:txBody>
      </p:sp>
      <p:sp>
        <p:nvSpPr>
          <p:cNvPr id="3" name="Rectangle 2">
            <a:extLst>
              <a:ext uri="{FF2B5EF4-FFF2-40B4-BE49-F238E27FC236}">
                <a16:creationId xmlns:a16="http://schemas.microsoft.com/office/drawing/2014/main" id="{7BFA0542-38D5-28B5-5FBE-2C269CE487A6}"/>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5" name="TextBox 4">
            <a:extLst>
              <a:ext uri="{FF2B5EF4-FFF2-40B4-BE49-F238E27FC236}">
                <a16:creationId xmlns:a16="http://schemas.microsoft.com/office/drawing/2014/main" id="{A4D425E5-3A73-8133-9B90-2CA261E36D5A}"/>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pic>
        <p:nvPicPr>
          <p:cNvPr id="29" name="Picture 29">
            <a:extLst>
              <a:ext uri="{FF2B5EF4-FFF2-40B4-BE49-F238E27FC236}">
                <a16:creationId xmlns:a16="http://schemas.microsoft.com/office/drawing/2014/main" id="{C4593A6B-3CEC-278A-0401-78260195280F}"/>
              </a:ext>
            </a:extLst>
          </p:cNvPr>
          <p:cNvPicPr>
            <a:picLocks noChangeAspect="1"/>
          </p:cNvPicPr>
          <p:nvPr/>
        </p:nvPicPr>
        <p:blipFill>
          <a:blip r:embed="rId3"/>
          <a:stretch>
            <a:fillRect/>
          </a:stretch>
        </p:blipFill>
        <p:spPr>
          <a:xfrm>
            <a:off x="1087225" y="1082412"/>
            <a:ext cx="7543013" cy="3707180"/>
          </a:xfrm>
          <a:prstGeom prst="rect">
            <a:avLst/>
          </a:prstGeom>
        </p:spPr>
      </p:pic>
      <p:pic>
        <p:nvPicPr>
          <p:cNvPr id="31" name="Picture 31" descr="Graphical user interface, text, application, email&#10;&#10;Description automatically generated">
            <a:extLst>
              <a:ext uri="{FF2B5EF4-FFF2-40B4-BE49-F238E27FC236}">
                <a16:creationId xmlns:a16="http://schemas.microsoft.com/office/drawing/2014/main" id="{1AEE10AF-75D3-D2C0-F45F-08429B78EC11}"/>
              </a:ext>
            </a:extLst>
          </p:cNvPr>
          <p:cNvPicPr>
            <a:picLocks noChangeAspect="1"/>
          </p:cNvPicPr>
          <p:nvPr/>
        </p:nvPicPr>
        <p:blipFill>
          <a:blip r:embed="rId4"/>
          <a:stretch>
            <a:fillRect/>
          </a:stretch>
        </p:blipFill>
        <p:spPr>
          <a:xfrm>
            <a:off x="238814" y="1083858"/>
            <a:ext cx="5673363" cy="370428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20528881256_0_19"/>
          <p:cNvSpPr txBox="1">
            <a:spLocks noGrp="1"/>
          </p:cNvSpPr>
          <p:nvPr>
            <p:ph type="title"/>
          </p:nvPr>
        </p:nvSpPr>
        <p:spPr>
          <a:xfrm>
            <a:off x="284400" y="198000"/>
            <a:ext cx="8629200" cy="3996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Gazebo Simulation</a:t>
            </a:r>
            <a:endParaRPr/>
          </a:p>
        </p:txBody>
      </p:sp>
      <p:sp>
        <p:nvSpPr>
          <p:cNvPr id="3" name="Rectangle 2">
            <a:extLst>
              <a:ext uri="{FF2B5EF4-FFF2-40B4-BE49-F238E27FC236}">
                <a16:creationId xmlns:a16="http://schemas.microsoft.com/office/drawing/2014/main" id="{65A415F5-A6B1-D358-F58F-BC1340D12547}"/>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5" name="TextBox 4">
            <a:extLst>
              <a:ext uri="{FF2B5EF4-FFF2-40B4-BE49-F238E27FC236}">
                <a16:creationId xmlns:a16="http://schemas.microsoft.com/office/drawing/2014/main" id="{F38CDEF6-6B5A-8C4C-C161-2CF79A7A1D2B}"/>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pic>
        <p:nvPicPr>
          <p:cNvPr id="2" name="Google Shape;52;g20528881256_0_42">
            <a:extLst>
              <a:ext uri="{FF2B5EF4-FFF2-40B4-BE49-F238E27FC236}">
                <a16:creationId xmlns:a16="http://schemas.microsoft.com/office/drawing/2014/main" id="{A6BE0285-59F6-8946-64D8-E59B16780CEC}"/>
              </a:ext>
            </a:extLst>
          </p:cNvPr>
          <p:cNvPicPr preferRelativeResize="0"/>
          <p:nvPr/>
        </p:nvPicPr>
        <p:blipFill>
          <a:blip r:embed="rId3"/>
          <a:stretch>
            <a:fillRect/>
          </a:stretch>
        </p:blipFill>
        <p:spPr>
          <a:xfrm>
            <a:off x="869153" y="906618"/>
            <a:ext cx="6939223" cy="411400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g20528881256_0_42"/>
          <p:cNvSpPr txBox="1">
            <a:spLocks noGrp="1"/>
          </p:cNvSpPr>
          <p:nvPr>
            <p:ph type="title"/>
          </p:nvPr>
        </p:nvSpPr>
        <p:spPr>
          <a:xfrm>
            <a:off x="284400" y="198000"/>
            <a:ext cx="8629200" cy="3996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Gazebo Simulation - updated</a:t>
            </a:r>
            <a:endParaRPr/>
          </a:p>
        </p:txBody>
      </p:sp>
      <p:pic>
        <p:nvPicPr>
          <p:cNvPr id="52" name="Google Shape;52;g20528881256_0_42"/>
          <p:cNvPicPr preferRelativeResize="0"/>
          <p:nvPr/>
        </p:nvPicPr>
        <p:blipFill>
          <a:blip r:embed="rId3">
            <a:alphaModFix/>
          </a:blip>
          <a:stretch>
            <a:fillRect/>
          </a:stretch>
        </p:blipFill>
        <p:spPr>
          <a:xfrm>
            <a:off x="1115505" y="842227"/>
            <a:ext cx="7250785" cy="4286250"/>
          </a:xfrm>
          <a:prstGeom prst="rect">
            <a:avLst/>
          </a:prstGeom>
          <a:noFill/>
          <a:ln>
            <a:noFill/>
          </a:ln>
        </p:spPr>
      </p:pic>
      <p:sp>
        <p:nvSpPr>
          <p:cNvPr id="3" name="Rectangle 2">
            <a:extLst>
              <a:ext uri="{FF2B5EF4-FFF2-40B4-BE49-F238E27FC236}">
                <a16:creationId xmlns:a16="http://schemas.microsoft.com/office/drawing/2014/main" id="{44B79D6C-CB9D-54E8-E611-3E2EE4B39B1A}"/>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5" name="TextBox 4">
            <a:extLst>
              <a:ext uri="{FF2B5EF4-FFF2-40B4-BE49-F238E27FC236}">
                <a16:creationId xmlns:a16="http://schemas.microsoft.com/office/drawing/2014/main" id="{FBDBA120-BA3E-0B43-0E3B-FA87C883933E}"/>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g20528881256_0_26"/>
          <p:cNvSpPr txBox="1">
            <a:spLocks noGrp="1"/>
          </p:cNvSpPr>
          <p:nvPr>
            <p:ph type="title"/>
          </p:nvPr>
        </p:nvSpPr>
        <p:spPr>
          <a:xfrm>
            <a:off x="284400" y="198000"/>
            <a:ext cx="8629200" cy="3996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Web UI - React Dashboard</a:t>
            </a:r>
            <a:endParaRPr/>
          </a:p>
        </p:txBody>
      </p:sp>
      <p:pic>
        <p:nvPicPr>
          <p:cNvPr id="59" name="Google Shape;59;g20528881256_0_26"/>
          <p:cNvPicPr preferRelativeResize="0"/>
          <p:nvPr/>
        </p:nvPicPr>
        <p:blipFill>
          <a:blip r:embed="rId3">
            <a:alphaModFix/>
          </a:blip>
          <a:stretch>
            <a:fillRect/>
          </a:stretch>
        </p:blipFill>
        <p:spPr>
          <a:xfrm>
            <a:off x="645425" y="1107375"/>
            <a:ext cx="7662250" cy="3588438"/>
          </a:xfrm>
          <a:prstGeom prst="rect">
            <a:avLst/>
          </a:prstGeom>
          <a:noFill/>
          <a:ln>
            <a:noFill/>
          </a:ln>
        </p:spPr>
      </p:pic>
      <p:sp>
        <p:nvSpPr>
          <p:cNvPr id="3" name="Rectangle 2">
            <a:extLst>
              <a:ext uri="{FF2B5EF4-FFF2-40B4-BE49-F238E27FC236}">
                <a16:creationId xmlns:a16="http://schemas.microsoft.com/office/drawing/2014/main" id="{89663F42-3D79-07B0-0F18-E85C0F4A6EFF}"/>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5" name="TextBox 4">
            <a:extLst>
              <a:ext uri="{FF2B5EF4-FFF2-40B4-BE49-F238E27FC236}">
                <a16:creationId xmlns:a16="http://schemas.microsoft.com/office/drawing/2014/main" id="{CD85121A-EB0E-34EE-0F49-BD267625F344}"/>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g20528881256_0_34"/>
          <p:cNvSpPr txBox="1">
            <a:spLocks noGrp="1"/>
          </p:cNvSpPr>
          <p:nvPr>
            <p:ph type="title"/>
          </p:nvPr>
        </p:nvSpPr>
        <p:spPr>
          <a:xfrm>
            <a:off x="284400" y="198000"/>
            <a:ext cx="8629200" cy="3996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de-DE"/>
              <a:t>Web UI - React Dashboard</a:t>
            </a:r>
            <a:endParaRPr/>
          </a:p>
        </p:txBody>
      </p:sp>
      <p:pic>
        <p:nvPicPr>
          <p:cNvPr id="66" name="Google Shape;66;g20528881256_0_34"/>
          <p:cNvPicPr preferRelativeResize="0"/>
          <p:nvPr/>
        </p:nvPicPr>
        <p:blipFill>
          <a:blip r:embed="rId3">
            <a:alphaModFix/>
          </a:blip>
          <a:stretch>
            <a:fillRect/>
          </a:stretch>
        </p:blipFill>
        <p:spPr>
          <a:xfrm>
            <a:off x="645425" y="1107375"/>
            <a:ext cx="7662250" cy="3588450"/>
          </a:xfrm>
          <a:prstGeom prst="rect">
            <a:avLst/>
          </a:prstGeom>
          <a:noFill/>
          <a:ln>
            <a:noFill/>
          </a:ln>
        </p:spPr>
      </p:pic>
      <p:sp>
        <p:nvSpPr>
          <p:cNvPr id="3" name="Rectangle 2">
            <a:extLst>
              <a:ext uri="{FF2B5EF4-FFF2-40B4-BE49-F238E27FC236}">
                <a16:creationId xmlns:a16="http://schemas.microsoft.com/office/drawing/2014/main" id="{8AC6D218-66EA-7CF1-4797-58B0FAF4C179}"/>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5" name="TextBox 4">
            <a:extLst>
              <a:ext uri="{FF2B5EF4-FFF2-40B4-BE49-F238E27FC236}">
                <a16:creationId xmlns:a16="http://schemas.microsoft.com/office/drawing/2014/main" id="{300CA50C-807C-A4DD-7B16-FA39E1B2A8EB}"/>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03B1F15-FDD2-AFAC-53BD-DFF5880E6E9B}"/>
              </a:ext>
            </a:extLst>
          </p:cNvPr>
          <p:cNvCxnSpPr>
            <a:cxnSpLocks/>
          </p:cNvCxnSpPr>
          <p:nvPr/>
        </p:nvCxnSpPr>
        <p:spPr>
          <a:xfrm>
            <a:off x="1904948" y="2837511"/>
            <a:ext cx="876395"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111A02A-336A-14B1-5F4F-6A6A5DF501F0}"/>
              </a:ext>
            </a:extLst>
          </p:cNvPr>
          <p:cNvCxnSpPr>
            <a:cxnSpLocks/>
          </p:cNvCxnSpPr>
          <p:nvPr/>
        </p:nvCxnSpPr>
        <p:spPr>
          <a:xfrm flipH="1">
            <a:off x="6451525" y="2837511"/>
            <a:ext cx="820786"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CC4BA12-1866-D160-A2B3-B87085EE33BE}"/>
              </a:ext>
            </a:extLst>
          </p:cNvPr>
          <p:cNvCxnSpPr>
            <a:cxnSpLocks/>
          </p:cNvCxnSpPr>
          <p:nvPr/>
        </p:nvCxnSpPr>
        <p:spPr>
          <a:xfrm>
            <a:off x="4967883" y="2837511"/>
            <a:ext cx="789644"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2E5D9BF-094B-5400-A48C-42FEC71531DD}"/>
              </a:ext>
            </a:extLst>
          </p:cNvPr>
          <p:cNvCxnSpPr>
            <a:cxnSpLocks/>
          </p:cNvCxnSpPr>
          <p:nvPr/>
        </p:nvCxnSpPr>
        <p:spPr>
          <a:xfrm flipH="1">
            <a:off x="3441976" y="2837511"/>
            <a:ext cx="814113" cy="547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1">
            <a:extLst>
              <a:ext uri="{FF2B5EF4-FFF2-40B4-BE49-F238E27FC236}">
                <a16:creationId xmlns:a16="http://schemas.microsoft.com/office/drawing/2014/main" id="{982F3818-50B6-CFC2-9B87-8681ECBA5054}"/>
              </a:ext>
            </a:extLst>
          </p:cNvPr>
          <p:cNvSpPr txBox="1"/>
          <p:nvPr/>
        </p:nvSpPr>
        <p:spPr>
          <a:xfrm>
            <a:off x="6757357" y="3031988"/>
            <a:ext cx="1934677" cy="392415"/>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2100" b="1">
                <a:solidFill>
                  <a:schemeClr val="accent6">
                    <a:lumMod val="75000"/>
                  </a:schemeClr>
                </a:solidFill>
                <a:ea typeface="맑은 고딕"/>
                <a:cs typeface="Arial"/>
              </a:rPr>
              <a:t>Results</a:t>
            </a:r>
          </a:p>
        </p:txBody>
      </p:sp>
      <p:sp>
        <p:nvSpPr>
          <p:cNvPr id="15" name="TextBox 17">
            <a:extLst>
              <a:ext uri="{FF2B5EF4-FFF2-40B4-BE49-F238E27FC236}">
                <a16:creationId xmlns:a16="http://schemas.microsoft.com/office/drawing/2014/main" id="{C2B630FD-6794-7774-CE86-5E6F4AB1A312}"/>
              </a:ext>
            </a:extLst>
          </p:cNvPr>
          <p:cNvSpPr txBox="1"/>
          <p:nvPr/>
        </p:nvSpPr>
        <p:spPr>
          <a:xfrm>
            <a:off x="3809485" y="3083134"/>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err="1">
                <a:solidFill>
                  <a:srgbClr val="0070C0"/>
                </a:solidFill>
                <a:ea typeface="+mn-lt"/>
                <a:cs typeface="+mn-lt"/>
              </a:rPr>
              <a:t>Mldog</a:t>
            </a:r>
            <a:r>
              <a:rPr lang="en-US" sz="1500" b="1">
                <a:solidFill>
                  <a:srgbClr val="0070C0"/>
                </a:solidFill>
                <a:ea typeface="+mn-lt"/>
                <a:cs typeface="+mn-lt"/>
              </a:rPr>
              <a:t>-Control</a:t>
            </a:r>
            <a:endParaRPr lang="en-US"/>
          </a:p>
        </p:txBody>
      </p:sp>
      <p:sp>
        <p:nvSpPr>
          <p:cNvPr id="17" name="TextBox 20">
            <a:extLst>
              <a:ext uri="{FF2B5EF4-FFF2-40B4-BE49-F238E27FC236}">
                <a16:creationId xmlns:a16="http://schemas.microsoft.com/office/drawing/2014/main" id="{9058EBFF-CCC9-3A21-AD30-062C5006DAB7}"/>
              </a:ext>
            </a:extLst>
          </p:cNvPr>
          <p:cNvSpPr txBox="1"/>
          <p:nvPr/>
        </p:nvSpPr>
        <p:spPr>
          <a:xfrm>
            <a:off x="2082361" y="4033913"/>
            <a:ext cx="1890319"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err="1">
                <a:solidFill>
                  <a:srgbClr val="0070C0"/>
                </a:solidFill>
                <a:ea typeface="+mn-lt"/>
                <a:cs typeface="+mn-lt"/>
              </a:rPr>
              <a:t>AprilTag</a:t>
            </a:r>
            <a:r>
              <a:rPr lang="en-US" sz="1500" b="1">
                <a:solidFill>
                  <a:srgbClr val="0070C0"/>
                </a:solidFill>
                <a:ea typeface="+mn-lt"/>
                <a:cs typeface="+mn-lt"/>
              </a:rPr>
              <a:t> Detection</a:t>
            </a:r>
            <a:endParaRPr lang="en-US"/>
          </a:p>
        </p:txBody>
      </p:sp>
      <p:sp>
        <p:nvSpPr>
          <p:cNvPr id="19" name="TextBox 11">
            <a:extLst>
              <a:ext uri="{FF2B5EF4-FFF2-40B4-BE49-F238E27FC236}">
                <a16:creationId xmlns:a16="http://schemas.microsoft.com/office/drawing/2014/main" id="{1ACB2016-AFA2-6053-E9F8-2103C29B5191}"/>
              </a:ext>
            </a:extLst>
          </p:cNvPr>
          <p:cNvSpPr txBox="1"/>
          <p:nvPr/>
        </p:nvSpPr>
        <p:spPr>
          <a:xfrm>
            <a:off x="728424" y="3195438"/>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500" b="1">
                <a:solidFill>
                  <a:srgbClr val="0070C0"/>
                </a:solidFill>
                <a:ea typeface="맑은 고딕"/>
                <a:cs typeface="Arial"/>
              </a:rPr>
              <a:t>Problem Analysis</a:t>
            </a:r>
            <a:endParaRPr lang="en-US"/>
          </a:p>
        </p:txBody>
      </p:sp>
      <p:sp>
        <p:nvSpPr>
          <p:cNvPr id="21" name="Frame 5">
            <a:extLst>
              <a:ext uri="{FF2B5EF4-FFF2-40B4-BE49-F238E27FC236}">
                <a16:creationId xmlns:a16="http://schemas.microsoft.com/office/drawing/2014/main" id="{431E30A9-AB69-B1B5-A103-DE62AB9C696C}"/>
              </a:ext>
            </a:extLst>
          </p:cNvPr>
          <p:cNvSpPr/>
          <p:nvPr/>
        </p:nvSpPr>
        <p:spPr>
          <a:xfrm flipH="1" flipV="1">
            <a:off x="1058492" y="2045695"/>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25" name="Group 24">
            <a:extLst>
              <a:ext uri="{FF2B5EF4-FFF2-40B4-BE49-F238E27FC236}">
                <a16:creationId xmlns:a16="http://schemas.microsoft.com/office/drawing/2014/main" id="{59127F52-2C2B-5400-1FEC-A6FD0FFC9B3E}"/>
              </a:ext>
            </a:extLst>
          </p:cNvPr>
          <p:cNvGrpSpPr/>
          <p:nvPr/>
        </p:nvGrpSpPr>
        <p:grpSpPr>
          <a:xfrm>
            <a:off x="1055959" y="1386608"/>
            <a:ext cx="927922" cy="927922"/>
            <a:chOff x="3472880" y="3030096"/>
            <a:chExt cx="1476444" cy="1476444"/>
          </a:xfrm>
          <a:effectLst>
            <a:outerShdw blurRad="63500" sx="102000" sy="102000" algn="ctr" rotWithShape="0">
              <a:prstClr val="black">
                <a:alpha val="40000"/>
              </a:prstClr>
            </a:outerShdw>
          </a:effectLst>
        </p:grpSpPr>
        <p:sp>
          <p:nvSpPr>
            <p:cNvPr id="23" name="Teardrop 14">
              <a:extLst>
                <a:ext uri="{FF2B5EF4-FFF2-40B4-BE49-F238E27FC236}">
                  <a16:creationId xmlns:a16="http://schemas.microsoft.com/office/drawing/2014/main" id="{B974281A-C53D-7AA5-E45D-F2C06450F279}"/>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24" name="Oval 23">
              <a:extLst>
                <a:ext uri="{FF2B5EF4-FFF2-40B4-BE49-F238E27FC236}">
                  <a16:creationId xmlns:a16="http://schemas.microsoft.com/office/drawing/2014/main" id="{70113EBC-7EFF-7C29-AB2D-D52857E580CB}"/>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27" name="Frame 5">
            <a:extLst>
              <a:ext uri="{FF2B5EF4-FFF2-40B4-BE49-F238E27FC236}">
                <a16:creationId xmlns:a16="http://schemas.microsoft.com/office/drawing/2014/main" id="{5E4EB570-A6A9-A917-1DDB-F59B32A04532}"/>
              </a:ext>
            </a:extLst>
          </p:cNvPr>
          <p:cNvSpPr/>
          <p:nvPr/>
        </p:nvSpPr>
        <p:spPr>
          <a:xfrm flipH="1" flipV="1">
            <a:off x="2648182" y="2941193"/>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31" name="Group 30">
            <a:extLst>
              <a:ext uri="{FF2B5EF4-FFF2-40B4-BE49-F238E27FC236}">
                <a16:creationId xmlns:a16="http://schemas.microsoft.com/office/drawing/2014/main" id="{5685416A-5E18-4A0E-8737-B633EF43A955}"/>
              </a:ext>
            </a:extLst>
          </p:cNvPr>
          <p:cNvGrpSpPr/>
          <p:nvPr/>
        </p:nvGrpSpPr>
        <p:grpSpPr>
          <a:xfrm>
            <a:off x="2645648" y="2282106"/>
            <a:ext cx="927922" cy="927922"/>
            <a:chOff x="3472880" y="3030096"/>
            <a:chExt cx="1476444" cy="1476444"/>
          </a:xfrm>
          <a:effectLst>
            <a:outerShdw blurRad="63500" sx="102000" sy="102000" algn="ctr" rotWithShape="0">
              <a:prstClr val="black">
                <a:alpha val="40000"/>
              </a:prstClr>
            </a:outerShdw>
          </a:effectLst>
        </p:grpSpPr>
        <p:sp>
          <p:nvSpPr>
            <p:cNvPr id="29" name="Teardrop 14">
              <a:extLst>
                <a:ext uri="{FF2B5EF4-FFF2-40B4-BE49-F238E27FC236}">
                  <a16:creationId xmlns:a16="http://schemas.microsoft.com/office/drawing/2014/main" id="{77142BCA-9DA8-85C6-702E-C1EAA7373928}"/>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30" name="Oval 29">
              <a:extLst>
                <a:ext uri="{FF2B5EF4-FFF2-40B4-BE49-F238E27FC236}">
                  <a16:creationId xmlns:a16="http://schemas.microsoft.com/office/drawing/2014/main" id="{BB58CF78-A6BF-9FD0-B6B9-A4A50A234EC9}"/>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pic>
        <p:nvPicPr>
          <p:cNvPr id="33" name="Picture 27">
            <a:extLst>
              <a:ext uri="{FF2B5EF4-FFF2-40B4-BE49-F238E27FC236}">
                <a16:creationId xmlns:a16="http://schemas.microsoft.com/office/drawing/2014/main" id="{F8C5066E-A94F-9CCD-CCD8-20A61EF7C8EF}"/>
              </a:ext>
            </a:extLst>
          </p:cNvPr>
          <p:cNvPicPr>
            <a:picLocks noChangeAspect="1"/>
          </p:cNvPicPr>
          <p:nvPr/>
        </p:nvPicPr>
        <p:blipFill>
          <a:blip r:embed="rId2"/>
          <a:stretch>
            <a:fillRect/>
          </a:stretch>
        </p:blipFill>
        <p:spPr>
          <a:xfrm>
            <a:off x="1359830" y="1532542"/>
            <a:ext cx="328613" cy="314325"/>
          </a:xfrm>
          <a:prstGeom prst="rect">
            <a:avLst/>
          </a:prstGeom>
        </p:spPr>
      </p:pic>
      <p:sp>
        <p:nvSpPr>
          <p:cNvPr id="35" name="Frame 5">
            <a:extLst>
              <a:ext uri="{FF2B5EF4-FFF2-40B4-BE49-F238E27FC236}">
                <a16:creationId xmlns:a16="http://schemas.microsoft.com/office/drawing/2014/main" id="{5AB90AA1-6662-B3E9-E321-4724A3DC9E42}"/>
              </a:ext>
            </a:extLst>
          </p:cNvPr>
          <p:cNvSpPr/>
          <p:nvPr/>
        </p:nvSpPr>
        <p:spPr>
          <a:xfrm flipH="1" flipV="1">
            <a:off x="4150144" y="2095068"/>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39" name="Group 38">
            <a:extLst>
              <a:ext uri="{FF2B5EF4-FFF2-40B4-BE49-F238E27FC236}">
                <a16:creationId xmlns:a16="http://schemas.microsoft.com/office/drawing/2014/main" id="{76E087B6-E968-6B6D-CEB3-3FD825659A7B}"/>
              </a:ext>
            </a:extLst>
          </p:cNvPr>
          <p:cNvGrpSpPr/>
          <p:nvPr/>
        </p:nvGrpSpPr>
        <p:grpSpPr>
          <a:xfrm>
            <a:off x="4147610" y="1435981"/>
            <a:ext cx="927922" cy="927922"/>
            <a:chOff x="3472880" y="3030096"/>
            <a:chExt cx="1476444" cy="1476444"/>
          </a:xfrm>
          <a:effectLst>
            <a:outerShdw blurRad="63500" sx="102000" sy="102000" algn="ctr" rotWithShape="0">
              <a:prstClr val="black">
                <a:alpha val="40000"/>
              </a:prstClr>
            </a:outerShdw>
          </a:effectLst>
        </p:grpSpPr>
        <p:sp>
          <p:nvSpPr>
            <p:cNvPr id="37" name="Teardrop 14">
              <a:extLst>
                <a:ext uri="{FF2B5EF4-FFF2-40B4-BE49-F238E27FC236}">
                  <a16:creationId xmlns:a16="http://schemas.microsoft.com/office/drawing/2014/main" id="{8A84DAAE-80C3-F7B7-77F7-8A00E1CF85C6}"/>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38" name="Oval 37">
              <a:extLst>
                <a:ext uri="{FF2B5EF4-FFF2-40B4-BE49-F238E27FC236}">
                  <a16:creationId xmlns:a16="http://schemas.microsoft.com/office/drawing/2014/main" id="{FB037653-245D-8DDB-E1A2-9D1EA923BA99}"/>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pic>
        <p:nvPicPr>
          <p:cNvPr id="41" name="Picture 30">
            <a:extLst>
              <a:ext uri="{FF2B5EF4-FFF2-40B4-BE49-F238E27FC236}">
                <a16:creationId xmlns:a16="http://schemas.microsoft.com/office/drawing/2014/main" id="{1DD2E22E-8EB6-060A-287D-DF3F075CE328}"/>
              </a:ext>
            </a:extLst>
          </p:cNvPr>
          <p:cNvPicPr>
            <a:picLocks noChangeAspect="1"/>
          </p:cNvPicPr>
          <p:nvPr/>
        </p:nvPicPr>
        <p:blipFill>
          <a:blip r:embed="rId3"/>
          <a:stretch>
            <a:fillRect/>
          </a:stretch>
        </p:blipFill>
        <p:spPr>
          <a:xfrm>
            <a:off x="4480406" y="1605483"/>
            <a:ext cx="264319" cy="300038"/>
          </a:xfrm>
          <a:prstGeom prst="rect">
            <a:avLst/>
          </a:prstGeom>
        </p:spPr>
      </p:pic>
      <p:sp>
        <p:nvSpPr>
          <p:cNvPr id="43" name="Frame 4">
            <a:extLst>
              <a:ext uri="{FF2B5EF4-FFF2-40B4-BE49-F238E27FC236}">
                <a16:creationId xmlns:a16="http://schemas.microsoft.com/office/drawing/2014/main" id="{D4AAA442-8147-A7ED-0C2F-BF08F0227F5A}"/>
              </a:ext>
            </a:extLst>
          </p:cNvPr>
          <p:cNvSpPr/>
          <p:nvPr/>
        </p:nvSpPr>
        <p:spPr>
          <a:xfrm flipH="1" flipV="1">
            <a:off x="7125094" y="2014286"/>
            <a:ext cx="927922" cy="927921"/>
          </a:xfrm>
          <a:prstGeom prst="rect">
            <a:avLst/>
          </a:prstGeom>
          <a:solidFill>
            <a:schemeClr val="accent6"/>
          </a:solidFill>
          <a:ln>
            <a:noFill/>
          </a:ln>
          <a:scene3d>
            <a:camera prst="isometricOffAxis2Top">
              <a:rot lat="19200000" lon="3000000" rev="17820000"/>
            </a:camera>
            <a:lightRig rig="soft" dir="t"/>
          </a:scene3d>
          <a:sp3d extrusionH="260350" prstMaterial="plastic">
            <a:bevelT w="12700" h="38100"/>
            <a:extrusionClr>
              <a:schemeClr val="accent6"/>
            </a:extrusionClr>
            <a:contourClr>
              <a:schemeClr val="accent6"/>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47" name="Group 46">
            <a:extLst>
              <a:ext uri="{FF2B5EF4-FFF2-40B4-BE49-F238E27FC236}">
                <a16:creationId xmlns:a16="http://schemas.microsoft.com/office/drawing/2014/main" id="{8254955F-2A40-5B5A-C388-9F37A43530E9}"/>
              </a:ext>
            </a:extLst>
          </p:cNvPr>
          <p:cNvGrpSpPr/>
          <p:nvPr/>
        </p:nvGrpSpPr>
        <p:grpSpPr>
          <a:xfrm>
            <a:off x="7119230" y="1358902"/>
            <a:ext cx="927922" cy="927922"/>
            <a:chOff x="1467313" y="1705637"/>
            <a:chExt cx="1476444" cy="1476444"/>
          </a:xfrm>
          <a:effectLst>
            <a:outerShdw blurRad="63500" sx="102000" sy="102000" algn="ctr" rotWithShape="0">
              <a:prstClr val="black">
                <a:alpha val="40000"/>
              </a:prstClr>
            </a:outerShdw>
          </a:effectLst>
        </p:grpSpPr>
        <p:sp>
          <p:nvSpPr>
            <p:cNvPr id="45" name="Teardrop 14">
              <a:extLst>
                <a:ext uri="{FF2B5EF4-FFF2-40B4-BE49-F238E27FC236}">
                  <a16:creationId xmlns:a16="http://schemas.microsoft.com/office/drawing/2014/main" id="{B4CCFD88-228D-0D9E-2BA7-80B2B809C20C}"/>
                </a:ext>
              </a:extLst>
            </p:cNvPr>
            <p:cNvSpPr/>
            <p:nvPr/>
          </p:nvSpPr>
          <p:spPr>
            <a:xfrm rot="8100000">
              <a:off x="1467313" y="1705637"/>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46" name="Oval 45">
              <a:extLst>
                <a:ext uri="{FF2B5EF4-FFF2-40B4-BE49-F238E27FC236}">
                  <a16:creationId xmlns:a16="http://schemas.microsoft.com/office/drawing/2014/main" id="{0D073DDC-9F69-28F9-F22F-3C13D37BDE44}"/>
                </a:ext>
              </a:extLst>
            </p:cNvPr>
            <p:cNvSpPr/>
            <p:nvPr/>
          </p:nvSpPr>
          <p:spPr>
            <a:xfrm>
              <a:off x="1698639" y="1757663"/>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sp>
        <p:nvSpPr>
          <p:cNvPr id="49" name="Frame 5">
            <a:extLst>
              <a:ext uri="{FF2B5EF4-FFF2-40B4-BE49-F238E27FC236}">
                <a16:creationId xmlns:a16="http://schemas.microsoft.com/office/drawing/2014/main" id="{8B363FF8-3F5F-7613-FD56-B5746B5CA074}"/>
              </a:ext>
            </a:extLst>
          </p:cNvPr>
          <p:cNvSpPr/>
          <p:nvPr/>
        </p:nvSpPr>
        <p:spPr>
          <a:xfrm flipH="1" flipV="1">
            <a:off x="5634730" y="2929327"/>
            <a:ext cx="927922" cy="927921"/>
          </a:xfrm>
          <a:prstGeom prst="rect">
            <a:avLst/>
          </a:prstGeom>
          <a:solidFill>
            <a:schemeClr val="accent1"/>
          </a:solidFill>
          <a:ln>
            <a:noFill/>
          </a:ln>
          <a:scene3d>
            <a:camera prst="isometricOffAxis2Top">
              <a:rot lat="19200000" lon="3000000" rev="17820000"/>
            </a:camera>
            <a:lightRig rig="soft" dir="t"/>
          </a:scene3d>
          <a:sp3d extrusionH="260350" prstMaterial="plastic">
            <a:bevelT w="12700" h="38100"/>
            <a:extrusionClr>
              <a:schemeClr val="accent1"/>
            </a:extrusionClr>
            <a:contourClr>
              <a:schemeClr val="accent1"/>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025">
              <a:solidFill>
                <a:schemeClr val="tx1"/>
              </a:solidFill>
            </a:endParaRPr>
          </a:p>
        </p:txBody>
      </p:sp>
      <p:grpSp>
        <p:nvGrpSpPr>
          <p:cNvPr id="53" name="Group 52">
            <a:extLst>
              <a:ext uri="{FF2B5EF4-FFF2-40B4-BE49-F238E27FC236}">
                <a16:creationId xmlns:a16="http://schemas.microsoft.com/office/drawing/2014/main" id="{DF5BF24F-1580-6A11-2EAB-56629661FDDB}"/>
              </a:ext>
            </a:extLst>
          </p:cNvPr>
          <p:cNvGrpSpPr/>
          <p:nvPr/>
        </p:nvGrpSpPr>
        <p:grpSpPr>
          <a:xfrm>
            <a:off x="5632197" y="2270240"/>
            <a:ext cx="927922" cy="927922"/>
            <a:chOff x="3472880" y="3030096"/>
            <a:chExt cx="1476444" cy="1476444"/>
          </a:xfrm>
          <a:effectLst>
            <a:outerShdw blurRad="63500" sx="102000" sy="102000" algn="ctr" rotWithShape="0">
              <a:prstClr val="black">
                <a:alpha val="40000"/>
              </a:prstClr>
            </a:outerShdw>
          </a:effectLst>
        </p:grpSpPr>
        <p:sp>
          <p:nvSpPr>
            <p:cNvPr id="51" name="Teardrop 14">
              <a:extLst>
                <a:ext uri="{FF2B5EF4-FFF2-40B4-BE49-F238E27FC236}">
                  <a16:creationId xmlns:a16="http://schemas.microsoft.com/office/drawing/2014/main" id="{A924F507-1CA9-2746-E082-91D1B6CB26C4}"/>
                </a:ext>
              </a:extLst>
            </p:cNvPr>
            <p:cNvSpPr/>
            <p:nvPr/>
          </p:nvSpPr>
          <p:spPr>
            <a:xfrm rot="8100000">
              <a:off x="3472880" y="3030096"/>
              <a:ext cx="1476444" cy="1476444"/>
            </a:xfrm>
            <a:custGeom>
              <a:avLst/>
              <a:gdLst>
                <a:gd name="connsiteX0" fmla="*/ 0 w 1237749"/>
                <a:gd name="connsiteY0" fmla="*/ 618875 h 1237749"/>
                <a:gd name="connsiteX1" fmla="*/ 618875 w 1237749"/>
                <a:gd name="connsiteY1" fmla="*/ 0 h 1237749"/>
                <a:gd name="connsiteX2" fmla="*/ 1476443 w 1237749"/>
                <a:gd name="connsiteY2" fmla="*/ -238694 h 1237749"/>
                <a:gd name="connsiteX3" fmla="*/ 1237749 w 1237749"/>
                <a:gd name="connsiteY3" fmla="*/ 618875 h 1237749"/>
                <a:gd name="connsiteX4" fmla="*/ 618874 w 1237749"/>
                <a:gd name="connsiteY4" fmla="*/ 1237750 h 1237749"/>
                <a:gd name="connsiteX5" fmla="*/ -1 w 1237749"/>
                <a:gd name="connsiteY5" fmla="*/ 618875 h 1237749"/>
                <a:gd name="connsiteX6" fmla="*/ 0 w 1237749"/>
                <a:gd name="connsiteY6" fmla="*/ 618875 h 1237749"/>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 name="connsiteX0" fmla="*/ 1 w 1476444"/>
                <a:gd name="connsiteY0" fmla="*/ 857569 h 1476444"/>
                <a:gd name="connsiteX1" fmla="*/ 618876 w 1476444"/>
                <a:gd name="connsiteY1" fmla="*/ 238694 h 1476444"/>
                <a:gd name="connsiteX2" fmla="*/ 1476444 w 1476444"/>
                <a:gd name="connsiteY2" fmla="*/ 0 h 1476444"/>
                <a:gd name="connsiteX3" fmla="*/ 1237750 w 1476444"/>
                <a:gd name="connsiteY3" fmla="*/ 857569 h 1476444"/>
                <a:gd name="connsiteX4" fmla="*/ 618875 w 1476444"/>
                <a:gd name="connsiteY4" fmla="*/ 1476444 h 1476444"/>
                <a:gd name="connsiteX5" fmla="*/ 0 w 1476444"/>
                <a:gd name="connsiteY5" fmla="*/ 857569 h 1476444"/>
                <a:gd name="connsiteX6" fmla="*/ 1 w 1476444"/>
                <a:gd name="connsiteY6" fmla="*/ 857569 h 147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6444" h="1476444">
                  <a:moveTo>
                    <a:pt x="1" y="857569"/>
                  </a:moveTo>
                  <a:cubicBezTo>
                    <a:pt x="1" y="515774"/>
                    <a:pt x="224685" y="327981"/>
                    <a:pt x="618876" y="238694"/>
                  </a:cubicBezTo>
                  <a:cubicBezTo>
                    <a:pt x="900377" y="174932"/>
                    <a:pt x="1148421" y="116962"/>
                    <a:pt x="1476444" y="0"/>
                  </a:cubicBezTo>
                  <a:cubicBezTo>
                    <a:pt x="1359484" y="328024"/>
                    <a:pt x="1322086" y="543600"/>
                    <a:pt x="1237750" y="857569"/>
                  </a:cubicBezTo>
                  <a:cubicBezTo>
                    <a:pt x="1149083" y="1187663"/>
                    <a:pt x="960670" y="1476444"/>
                    <a:pt x="618875" y="1476444"/>
                  </a:cubicBezTo>
                  <a:cubicBezTo>
                    <a:pt x="277080" y="1476444"/>
                    <a:pt x="0" y="1199364"/>
                    <a:pt x="0" y="857569"/>
                  </a:cubicBezTo>
                  <a:lnTo>
                    <a:pt x="1" y="85756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sp>
          <p:nvSpPr>
            <p:cNvPr id="52" name="Oval 51">
              <a:extLst>
                <a:ext uri="{FF2B5EF4-FFF2-40B4-BE49-F238E27FC236}">
                  <a16:creationId xmlns:a16="http://schemas.microsoft.com/office/drawing/2014/main" id="{6E62A4A0-81E9-1BD8-C33A-F0560747D2FD}"/>
                </a:ext>
              </a:extLst>
            </p:cNvPr>
            <p:cNvSpPr/>
            <p:nvPr/>
          </p:nvSpPr>
          <p:spPr>
            <a:xfrm>
              <a:off x="3704206" y="3082122"/>
              <a:ext cx="1019339" cy="101933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350"/>
            </a:p>
          </p:txBody>
        </p:sp>
      </p:grpSp>
      <p:pic>
        <p:nvPicPr>
          <p:cNvPr id="55" name="Picture 102">
            <a:extLst>
              <a:ext uri="{FF2B5EF4-FFF2-40B4-BE49-F238E27FC236}">
                <a16:creationId xmlns:a16="http://schemas.microsoft.com/office/drawing/2014/main" id="{57797A6E-F0FD-E6DA-4E09-563394D30F3F}"/>
              </a:ext>
            </a:extLst>
          </p:cNvPr>
          <p:cNvPicPr>
            <a:picLocks noChangeAspect="1"/>
          </p:cNvPicPr>
          <p:nvPr/>
        </p:nvPicPr>
        <p:blipFill>
          <a:blip r:embed="rId4"/>
          <a:stretch>
            <a:fillRect/>
          </a:stretch>
        </p:blipFill>
        <p:spPr>
          <a:xfrm>
            <a:off x="7410029" y="1501011"/>
            <a:ext cx="407606" cy="407027"/>
          </a:xfrm>
          <a:prstGeom prst="rect">
            <a:avLst/>
          </a:prstGeom>
        </p:spPr>
      </p:pic>
      <p:pic>
        <p:nvPicPr>
          <p:cNvPr id="57" name="Picture 47">
            <a:extLst>
              <a:ext uri="{FF2B5EF4-FFF2-40B4-BE49-F238E27FC236}">
                <a16:creationId xmlns:a16="http://schemas.microsoft.com/office/drawing/2014/main" id="{883EA3AA-F566-6C0D-D363-AB29AF68BFAB}"/>
              </a:ext>
            </a:extLst>
          </p:cNvPr>
          <p:cNvPicPr>
            <a:picLocks noChangeAspect="1"/>
          </p:cNvPicPr>
          <p:nvPr/>
        </p:nvPicPr>
        <p:blipFill>
          <a:blip r:embed="rId5"/>
          <a:stretch>
            <a:fillRect/>
          </a:stretch>
        </p:blipFill>
        <p:spPr>
          <a:xfrm>
            <a:off x="5950705" y="2480305"/>
            <a:ext cx="292894" cy="271463"/>
          </a:xfrm>
          <a:prstGeom prst="rect">
            <a:avLst/>
          </a:prstGeom>
        </p:spPr>
      </p:pic>
      <p:sp>
        <p:nvSpPr>
          <p:cNvPr id="59" name="TextBox 17">
            <a:extLst>
              <a:ext uri="{FF2B5EF4-FFF2-40B4-BE49-F238E27FC236}">
                <a16:creationId xmlns:a16="http://schemas.microsoft.com/office/drawing/2014/main" id="{68BEF57E-1F71-0CE8-B7C2-D3F9AB0EC487}"/>
              </a:ext>
            </a:extLst>
          </p:cNvPr>
          <p:cNvSpPr txBox="1"/>
          <p:nvPr/>
        </p:nvSpPr>
        <p:spPr>
          <a:xfrm>
            <a:off x="5330031" y="4112531"/>
            <a:ext cx="1599660" cy="300082"/>
          </a:xfrm>
          <a:prstGeom prst="rect">
            <a:avLst/>
          </a:prstGeom>
          <a:noFill/>
        </p:spPr>
        <p:txBody>
          <a:bodyPr wrap="square" lIns="68580" tIns="34290" rIns="68580" bIns="3429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a:solidFill>
                  <a:srgbClr val="0070C0"/>
                </a:solidFill>
                <a:ea typeface="+mn-lt"/>
                <a:cs typeface="+mn-lt"/>
              </a:rPr>
              <a:t>Simulation &amp; ROS</a:t>
            </a:r>
            <a:endParaRPr lang="en-US" sz="1500">
              <a:ea typeface="+mn-lt"/>
              <a:cs typeface="+mn-lt"/>
            </a:endParaRPr>
          </a:p>
        </p:txBody>
      </p:sp>
      <p:pic>
        <p:nvPicPr>
          <p:cNvPr id="61" name="Picture 5">
            <a:extLst>
              <a:ext uri="{FF2B5EF4-FFF2-40B4-BE49-F238E27FC236}">
                <a16:creationId xmlns:a16="http://schemas.microsoft.com/office/drawing/2014/main" id="{C4C1B281-8785-0DE4-3A0F-BE204422F800}"/>
              </a:ext>
            </a:extLst>
          </p:cNvPr>
          <p:cNvPicPr>
            <a:picLocks noChangeAspect="1"/>
          </p:cNvPicPr>
          <p:nvPr/>
        </p:nvPicPr>
        <p:blipFill>
          <a:blip r:embed="rId6"/>
          <a:stretch>
            <a:fillRect/>
          </a:stretch>
        </p:blipFill>
        <p:spPr>
          <a:xfrm>
            <a:off x="2932888" y="2430079"/>
            <a:ext cx="362199" cy="352425"/>
          </a:xfrm>
          <a:prstGeom prst="rect">
            <a:avLst/>
          </a:prstGeom>
        </p:spPr>
      </p:pic>
      <p:sp>
        <p:nvSpPr>
          <p:cNvPr id="63" name="Rectangle 62">
            <a:extLst>
              <a:ext uri="{FF2B5EF4-FFF2-40B4-BE49-F238E27FC236}">
                <a16:creationId xmlns:a16="http://schemas.microsoft.com/office/drawing/2014/main" id="{6D9989FF-899C-2F3C-679E-B598874BE0DD}"/>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65" name="TextBox 64">
            <a:extLst>
              <a:ext uri="{FF2B5EF4-FFF2-40B4-BE49-F238E27FC236}">
                <a16:creationId xmlns:a16="http://schemas.microsoft.com/office/drawing/2014/main" id="{A92AD5AF-9329-801D-76FB-073DF2A1F669}"/>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4112724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4D04D-B75E-180F-5CFA-B89E0C026352}"/>
              </a:ext>
            </a:extLst>
          </p:cNvPr>
          <p:cNvSpPr>
            <a:spLocks noGrp="1"/>
          </p:cNvSpPr>
          <p:nvPr>
            <p:ph type="title"/>
          </p:nvPr>
        </p:nvSpPr>
        <p:spPr/>
        <p:txBody>
          <a:bodyPr/>
          <a:lstStyle/>
          <a:p>
            <a:r>
              <a:rPr lang="en-US"/>
              <a:t>Experimental Tracking Results</a:t>
            </a:r>
          </a:p>
        </p:txBody>
      </p:sp>
      <p:sp>
        <p:nvSpPr>
          <p:cNvPr id="5" name="TextBox 4">
            <a:extLst>
              <a:ext uri="{FF2B5EF4-FFF2-40B4-BE49-F238E27FC236}">
                <a16:creationId xmlns:a16="http://schemas.microsoft.com/office/drawing/2014/main" id="{C59F7B09-C995-A0A4-10CD-8F92BF695EE3}"/>
              </a:ext>
            </a:extLst>
          </p:cNvPr>
          <p:cNvSpPr txBox="1"/>
          <p:nvPr/>
        </p:nvSpPr>
        <p:spPr>
          <a:xfrm>
            <a:off x="513761" y="1090246"/>
            <a:ext cx="8171468"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Char char="•"/>
            </a:pPr>
            <a:r>
              <a:rPr lang="en-US" sz="1700">
                <a:latin typeface="Calibri"/>
                <a:ea typeface="Calibri"/>
                <a:cs typeface="Calibri"/>
              </a:rPr>
              <a:t>Following a dynamic moving tag using the previously explained controller was successful.</a:t>
            </a:r>
          </a:p>
          <a:p>
            <a:endParaRPr lang="en-US"/>
          </a:p>
          <a:p>
            <a:pPr>
              <a:buChar char="•"/>
            </a:pPr>
            <a:r>
              <a:rPr lang="en-US" sz="1700">
                <a:latin typeface="Calibri"/>
                <a:ea typeface="Calibri"/>
                <a:cs typeface="Calibri"/>
              </a:rPr>
              <a:t>Tracking the tag was accurate with the safe distance between the robot and the tag maintained</a:t>
            </a:r>
          </a:p>
        </p:txBody>
      </p:sp>
      <p:pic>
        <p:nvPicPr>
          <p:cNvPr id="6" name="Picture 6" descr="Chart, scatter chart&#10;&#10;Description automatically generated">
            <a:extLst>
              <a:ext uri="{FF2B5EF4-FFF2-40B4-BE49-F238E27FC236}">
                <a16:creationId xmlns:a16="http://schemas.microsoft.com/office/drawing/2014/main" id="{E76882D0-1415-99EA-4F85-FBEF489BD70A}"/>
              </a:ext>
            </a:extLst>
          </p:cNvPr>
          <p:cNvPicPr>
            <a:picLocks noChangeAspect="1"/>
          </p:cNvPicPr>
          <p:nvPr/>
        </p:nvPicPr>
        <p:blipFill>
          <a:blip r:embed="rId2"/>
          <a:stretch>
            <a:fillRect/>
          </a:stretch>
        </p:blipFill>
        <p:spPr>
          <a:xfrm>
            <a:off x="1631256" y="2269881"/>
            <a:ext cx="5543695" cy="2745294"/>
          </a:xfrm>
          <a:prstGeom prst="rect">
            <a:avLst/>
          </a:prstGeom>
        </p:spPr>
      </p:pic>
      <p:sp>
        <p:nvSpPr>
          <p:cNvPr id="8" name="Rectangle 7">
            <a:extLst>
              <a:ext uri="{FF2B5EF4-FFF2-40B4-BE49-F238E27FC236}">
                <a16:creationId xmlns:a16="http://schemas.microsoft.com/office/drawing/2014/main" id="{C87070BB-FC39-3246-49D9-04C4FB71448A}"/>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10" name="TextBox 9">
            <a:extLst>
              <a:ext uri="{FF2B5EF4-FFF2-40B4-BE49-F238E27FC236}">
                <a16:creationId xmlns:a16="http://schemas.microsoft.com/office/drawing/2014/main" id="{7191263A-97AF-3BF9-71F7-61650F8B25A4}"/>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extLst>
      <p:ext uri="{BB962C8B-B14F-4D97-AF65-F5344CB8AC3E}">
        <p14:creationId xmlns:p14="http://schemas.microsoft.com/office/powerpoint/2010/main" val="3434191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59738-A4C1-42E9-122D-FB2B76DB7B67}"/>
              </a:ext>
            </a:extLst>
          </p:cNvPr>
          <p:cNvSpPr>
            <a:spLocks noGrp="1"/>
          </p:cNvSpPr>
          <p:nvPr>
            <p:ph type="title"/>
          </p:nvPr>
        </p:nvSpPr>
        <p:spPr/>
        <p:txBody>
          <a:bodyPr/>
          <a:lstStyle/>
          <a:p>
            <a:r>
              <a:rPr lang="en-US"/>
              <a:t>Q &amp; A</a:t>
            </a:r>
          </a:p>
        </p:txBody>
      </p:sp>
      <p:pic>
        <p:nvPicPr>
          <p:cNvPr id="5" name="Picture 5" descr="Logo&#10;&#10;Description automatically generated">
            <a:extLst>
              <a:ext uri="{FF2B5EF4-FFF2-40B4-BE49-F238E27FC236}">
                <a16:creationId xmlns:a16="http://schemas.microsoft.com/office/drawing/2014/main" id="{CA9C1842-9E49-D796-9366-BC3798D6F67C}"/>
              </a:ext>
            </a:extLst>
          </p:cNvPr>
          <p:cNvPicPr>
            <a:picLocks noChangeAspect="1"/>
          </p:cNvPicPr>
          <p:nvPr/>
        </p:nvPicPr>
        <p:blipFill>
          <a:blip r:embed="rId2"/>
          <a:stretch>
            <a:fillRect/>
          </a:stretch>
        </p:blipFill>
        <p:spPr>
          <a:xfrm>
            <a:off x="2133571" y="917238"/>
            <a:ext cx="4602600" cy="4600848"/>
          </a:xfrm>
          <a:prstGeom prst="rect">
            <a:avLst/>
          </a:prstGeom>
        </p:spPr>
      </p:pic>
    </p:spTree>
    <p:extLst>
      <p:ext uri="{BB962C8B-B14F-4D97-AF65-F5344CB8AC3E}">
        <p14:creationId xmlns:p14="http://schemas.microsoft.com/office/powerpoint/2010/main" val="3073467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4"/>
          <p:cNvSpPr txBox="1">
            <a:spLocks noGrp="1"/>
          </p:cNvSpPr>
          <p:nvPr>
            <p:ph type="body" idx="2"/>
          </p:nvPr>
        </p:nvSpPr>
        <p:spPr>
          <a:xfrm>
            <a:off x="284400" y="975600"/>
            <a:ext cx="8629200" cy="41364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Calibri"/>
              <a:buAutoNum type="arabicPeriod"/>
            </a:pPr>
            <a:endParaRPr lang="de-DE"/>
          </a:p>
          <a:p>
            <a:pPr marL="0" lvl="0" indent="0" algn="l" rtl="0">
              <a:spcBef>
                <a:spcPts val="360"/>
              </a:spcBef>
              <a:spcAft>
                <a:spcPts val="0"/>
              </a:spcAft>
              <a:buClr>
                <a:schemeClr val="dk1"/>
              </a:buClr>
              <a:buSzPts val="1800"/>
              <a:buNone/>
            </a:pPr>
            <a:endParaRPr/>
          </a:p>
        </p:txBody>
      </p:sp>
      <p:sp>
        <p:nvSpPr>
          <p:cNvPr id="72" name="Google Shape;72;p4"/>
          <p:cNvSpPr txBox="1">
            <a:spLocks noGrp="1"/>
          </p:cNvSpPr>
          <p:nvPr>
            <p:ph type="title"/>
          </p:nvPr>
        </p:nvSpPr>
        <p:spPr>
          <a:xfrm>
            <a:off x="284400" y="198000"/>
            <a:ext cx="8629200" cy="399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600"/>
              <a:buFont typeface="Arial"/>
              <a:buNone/>
            </a:pPr>
            <a:r>
              <a:rPr lang="de-DE"/>
              <a:t>Bibliography</a:t>
            </a:r>
            <a:endParaRPr/>
          </a:p>
        </p:txBody>
      </p:sp>
      <p:sp>
        <p:nvSpPr>
          <p:cNvPr id="3" name="Rectangle 2">
            <a:extLst>
              <a:ext uri="{FF2B5EF4-FFF2-40B4-BE49-F238E27FC236}">
                <a16:creationId xmlns:a16="http://schemas.microsoft.com/office/drawing/2014/main" id="{C7E36CB3-6D8F-65ED-A345-C8A2654B24EA}"/>
              </a:ext>
            </a:extLst>
          </p:cNvPr>
          <p:cNvSpPr/>
          <p:nvPr/>
        </p:nvSpPr>
        <p:spPr>
          <a:xfrm>
            <a:off x="1216792" y="5173332"/>
            <a:ext cx="7144591" cy="408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cs typeface="Arial"/>
              </a:rPr>
              <a:t>ss</a:t>
            </a:r>
            <a:endParaRPr lang="en-US"/>
          </a:p>
        </p:txBody>
      </p:sp>
      <p:sp>
        <p:nvSpPr>
          <p:cNvPr id="5" name="TextBox 4">
            <a:extLst>
              <a:ext uri="{FF2B5EF4-FFF2-40B4-BE49-F238E27FC236}">
                <a16:creationId xmlns:a16="http://schemas.microsoft.com/office/drawing/2014/main" id="{9714F245-6A7E-FACE-BD77-7B1D8D661932}"/>
              </a:ext>
            </a:extLst>
          </p:cNvPr>
          <p:cNvSpPr txBox="1"/>
          <p:nvPr/>
        </p:nvSpPr>
        <p:spPr>
          <a:xfrm>
            <a:off x="1256069" y="5181181"/>
            <a:ext cx="71358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tx1"/>
                </a:solidFill>
              </a:rPr>
              <a:t>Group1 -  Robust Fiducial Markers Detection And Following Using Quadruped Robot</a:t>
            </a:r>
            <a:br>
              <a:rPr lang="en-US" sz="1000">
                <a:solidFill>
                  <a:schemeClr val="tx1"/>
                </a:solidFill>
              </a:rPr>
            </a:br>
            <a:r>
              <a:rPr lang="en-US" sz="1000">
                <a:solidFill>
                  <a:schemeClr val="tx1"/>
                </a:solidFill>
              </a:rPr>
              <a:t>Construction Robotics WS 2022/23 final presentation, February 6, 2023</a:t>
            </a:r>
          </a:p>
        </p:txBody>
      </p:sp>
    </p:spTree>
  </p:cSld>
  <p:clrMapOvr>
    <a:masterClrMapping/>
  </p:clrMapOvr>
</p:sld>
</file>

<file path=ppt/theme/theme1.xml><?xml version="1.0" encoding="utf-8"?>
<a:theme xmlns:a="http://schemas.openxmlformats.org/drawingml/2006/main" name="Larissa">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1277</Words>
  <Application>Microsoft Office PowerPoint</Application>
  <PresentationFormat>On-screen Show (16:10)</PresentationFormat>
  <Paragraphs>192</Paragraphs>
  <Slides>27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Lato-ExtraBold</vt:lpstr>
      <vt:lpstr>Noto Sans Symbols</vt:lpstr>
      <vt:lpstr>Wingdings</vt:lpstr>
      <vt:lpstr>Larissa</vt:lpstr>
      <vt:lpstr>PowerPoint Presentation</vt:lpstr>
      <vt:lpstr>Agenda</vt:lpstr>
      <vt:lpstr>PowerPoint Presentation</vt:lpstr>
      <vt:lpstr>Problem Formulation</vt:lpstr>
      <vt:lpstr>Challenges</vt:lpstr>
      <vt:lpstr>Proposed Solution</vt:lpstr>
      <vt:lpstr>PowerPoint Presentation</vt:lpstr>
      <vt:lpstr>Camera Calibration</vt:lpstr>
      <vt:lpstr>Camera Calibration</vt:lpstr>
      <vt:lpstr>AprilTag Detection</vt:lpstr>
      <vt:lpstr>MIDog Moving Algorithm</vt:lpstr>
      <vt:lpstr>AprilTag Detection CNN Model</vt:lpstr>
      <vt:lpstr>Detection Examples</vt:lpstr>
      <vt:lpstr>Filtering</vt:lpstr>
      <vt:lpstr>PowerPoint Presentation</vt:lpstr>
      <vt:lpstr>Control</vt:lpstr>
      <vt:lpstr>PowerPoint Presentation</vt:lpstr>
      <vt:lpstr>Workflow</vt:lpstr>
      <vt:lpstr> Why Simulation ?</vt:lpstr>
      <vt:lpstr>Gazebo Simulation</vt:lpstr>
      <vt:lpstr>Gazebo Simulation - updated</vt:lpstr>
      <vt:lpstr>Web UI - React Dashboard</vt:lpstr>
      <vt:lpstr>Web UI - React Dashboard</vt:lpstr>
      <vt:lpstr>PowerPoint Presentation</vt:lpstr>
      <vt:lpstr>Experimental Tracking Results</vt:lpstr>
      <vt:lpstr>Q &amp; A</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Workflow</dc:title>
  <dc:creator>Kay Smarsly</dc:creator>
  <cp:lastModifiedBy>ARARAT ÇETİNKAYA</cp:lastModifiedBy>
  <cp:revision>4</cp:revision>
  <dcterms:created xsi:type="dcterms:W3CDTF">2014-06-02T08:08:25Z</dcterms:created>
  <dcterms:modified xsi:type="dcterms:W3CDTF">2023-02-05T22:51:24Z</dcterms:modified>
</cp:coreProperties>
</file>